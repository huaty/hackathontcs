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9346bc26494a98" /><Relationship Type="http://schemas.openxmlformats.org/officeDocument/2006/relationships/extended-properties" Target="/docProps/app.xml" Id="Ra0c4d67df14c4692" /><Relationship Type="http://schemas.openxmlformats.org/officeDocument/2006/relationships/officeDocument" Target="/ppt/presentation.xml" Id="R29b6dd64a5434b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215174ff30416a"/>
  </p:sldMasterIdLst>
  <p:notesMasterIdLst>
    <p:notesMasterId xmlns:r="http://schemas.openxmlformats.org/officeDocument/2006/relationships" r:id="R9144676b23314adb"/>
  </p:notesMasterIdLst>
  <p:sldIdLst>
    <p:sldId xmlns:r="http://schemas.openxmlformats.org/officeDocument/2006/relationships" id="256" r:id="R323de331bbde4d86"/>
    <p:sldId xmlns:r="http://schemas.openxmlformats.org/officeDocument/2006/relationships" id="257" r:id="R5a28d016fc9d4955"/>
    <p:sldId xmlns:r="http://schemas.openxmlformats.org/officeDocument/2006/relationships" id="258" r:id="R7aa47843064b4f40"/>
    <p:sldId xmlns:r="http://schemas.openxmlformats.org/officeDocument/2006/relationships" id="259" r:id="Rcac6313a01924423"/>
    <p:sldId xmlns:r="http://schemas.openxmlformats.org/officeDocument/2006/relationships" id="260" r:id="Ra9a738afb5104814"/>
    <p:sldId xmlns:r="http://schemas.openxmlformats.org/officeDocument/2006/relationships" id="261" r:id="R413e606ddd4f4f15"/>
    <p:sldId xmlns:r="http://schemas.openxmlformats.org/officeDocument/2006/relationships" id="262" r:id="Rec501a4244534442"/>
    <p:sldId xmlns:r="http://schemas.openxmlformats.org/officeDocument/2006/relationships" id="263" r:id="Ra98e666a19be4c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39a0a1f1f1458f" /><Relationship Type="http://schemas.openxmlformats.org/officeDocument/2006/relationships/slideMaster" Target="/ppt/slideMasters/slideMaster1.xml" Id="Rb8215174ff30416a" /><Relationship Type="http://schemas.openxmlformats.org/officeDocument/2006/relationships/notesMaster" Target="/ppt/notesMasters/notesMaster1.xml" Id="R9144676b23314adb" /><Relationship Type="http://schemas.openxmlformats.org/officeDocument/2006/relationships/presProps" Target="/ppt/presProps.xml" Id="R68f8cb379701433c" /><Relationship Type="http://schemas.openxmlformats.org/officeDocument/2006/relationships/tableStyles" Target="/ppt/tableStyles.xml" Id="R8900a3c1b9eb4443" /><Relationship Type="http://schemas.openxmlformats.org/officeDocument/2006/relationships/slide" Target="/ppt/slides/slide1.xml" Id="R323de331bbde4d86" /><Relationship Type="http://schemas.openxmlformats.org/officeDocument/2006/relationships/slide" Target="/ppt/slides/slide2.xml" Id="R5a28d016fc9d4955" /><Relationship Type="http://schemas.openxmlformats.org/officeDocument/2006/relationships/slide" Target="/ppt/slides/slide3.xml" Id="R7aa47843064b4f40" /><Relationship Type="http://schemas.openxmlformats.org/officeDocument/2006/relationships/slide" Target="/ppt/slides/slide4.xml" Id="Rcac6313a01924423" /><Relationship Type="http://schemas.openxmlformats.org/officeDocument/2006/relationships/slide" Target="/ppt/slides/slide5.xml" Id="Ra9a738afb5104814" /><Relationship Type="http://schemas.openxmlformats.org/officeDocument/2006/relationships/slide" Target="/ppt/slides/slide6.xml" Id="R413e606ddd4f4f15" /><Relationship Type="http://schemas.openxmlformats.org/officeDocument/2006/relationships/slide" Target="/ppt/slides/slide7.xml" Id="Rec501a4244534442" /><Relationship Type="http://schemas.openxmlformats.org/officeDocument/2006/relationships/slide" Target="/ppt/slides/slide8.xml" Id="Ra98e666a19be4c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36554ea7f340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43310e4abb455b" /><Relationship Type="http://schemas.openxmlformats.org/officeDocument/2006/relationships/notesMaster" Target="/ppt/notesMasters/notesMaster1.xml" Id="R9f13a75ea0c74a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7b4e09edb14fde" /><Relationship Type="http://schemas.openxmlformats.org/officeDocument/2006/relationships/notesMaster" Target="/ppt/notesMasters/notesMaster1.xml" Id="Rf7eff5989e734b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db8918b12241e6" /><Relationship Type="http://schemas.openxmlformats.org/officeDocument/2006/relationships/notesMaster" Target="/ppt/notesMasters/notesMaster1.xml" Id="Rfe0d4127944e47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acf528d2034d93" /><Relationship Type="http://schemas.openxmlformats.org/officeDocument/2006/relationships/notesMaster" Target="/ppt/notesMasters/notesMaster1.xml" Id="Rf3f8470f56ea4e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9bc5e42fd4401e" /><Relationship Type="http://schemas.openxmlformats.org/officeDocument/2006/relationships/notesMaster" Target="/ppt/notesMasters/notesMaster1.xml" Id="Rea27c0c284154a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6d8ea2753a4f54" /><Relationship Type="http://schemas.openxmlformats.org/officeDocument/2006/relationships/notesMaster" Target="/ppt/notesMasters/notesMaster1.xml" Id="R9d53179532ad4a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7477b939154136" /><Relationship Type="http://schemas.openxmlformats.org/officeDocument/2006/relationships/notesMaster" Target="/ppt/notesMasters/notesMaster1.xml" Id="R3ecad971280f4c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c5ee823511475d" /><Relationship Type="http://schemas.openxmlformats.org/officeDocument/2006/relationships/notesMaster" Target="/ppt/notesMasters/notesMaster1.xml" Id="R499fed67b3324a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sentinel-access/CONTEXT.md</a:t>
            </a:r>
          </a:p>
          <a:p xmlns:a="http://schemas.openxmlformats.org/drawingml/2006/main">
            <a:r>
              <a:t>- sentinel-access/ideas.md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sentinel-access/CONTEXT.md</a:t>
            </a:r>
          </a:p>
          <a:p xmlns:a="http://schemas.openxmlformats.org/drawingml/2006/main">
            <a:r>
              <a:t>- specs/004-contextual-risk-scoring/spec.md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sentinel-access/backend/app/routers/datasets.py</a:t>
            </a:r>
          </a:p>
          <a:p xmlns:a="http://schemas.openxmlformats.org/drawingml/2006/main">
            <a:r>
              <a:t>- sentinel-access/backend/app/routers/command_center.py</a:t>
            </a:r>
          </a:p>
          <a:p xmlns:a="http://schemas.openxmlformats.org/drawingml/2006/main">
            <a:r>
              <a:t>- specs/004-contextual-risk-scoring/spec.md</a:t>
            </a:r>
          </a:p>
          <a:p xmlns:a="http://schemas.openxmlformats.org/drawingml/2006/main">
            <a:r>
              <a:t>- specs/005-cloud-log-ingestion/plan.md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sentinel-access/package.json</a:t>
            </a:r>
          </a:p>
          <a:p xmlns:a="http://schemas.openxmlformats.org/drawingml/2006/main">
            <a:r>
              <a:t>- sentinel-access/backend/app/main.py</a:t>
            </a:r>
          </a:p>
          <a:p xmlns:a="http://schemas.openxmlformats.org/drawingml/2006/main">
            <a:r>
              <a:t>- sentinel-access/backend/app/db.py</a:t>
            </a:r>
          </a:p>
          <a:p xmlns:a="http://schemas.openxmlformats.org/drawingml/2006/main">
            <a:r>
              <a:t>- sentinel-access/backend/app/ai_client.py</a:t>
            </a:r>
          </a:p>
          <a:p xmlns:a="http://schemas.openxmlformats.org/drawingml/2006/main">
            <a:r>
              <a:t>- sentinel-access/client/src/lib/api.ts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sentinel-access/backend/app/routers/command_center.py</a:t>
            </a:r>
          </a:p>
          <a:p xmlns:a="http://schemas.openxmlformats.org/drawingml/2006/main">
            <a:r>
              <a:t>- sentinel-access/backend/app/routers/copilot.py</a:t>
            </a:r>
          </a:p>
          <a:p xmlns:a="http://schemas.openxmlformats.org/drawingml/2006/main">
            <a:r>
              <a:t>- sentinel-access/backend/app/routers/reports.py</a:t>
            </a:r>
          </a:p>
          <a:p xmlns:a="http://schemas.openxmlformats.org/drawingml/2006/main">
            <a:r>
              <a:t>- specs/004-contextual-risk-scoring/spec.md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sentinel-access/ideas.md</a:t>
            </a:r>
          </a:p>
          <a:p xmlns:a="http://schemas.openxmlformats.org/drawingml/2006/main">
            <a:r>
              <a:t>- sentinel-access/CONTEXT.md</a:t>
            </a:r>
          </a:p>
          <a:p xmlns:a="http://schemas.openxmlformats.org/drawingml/2006/main">
            <a:r>
              <a:t>- specs/004-contextual-risk-scoring/spec.md</a:t>
            </a:r>
          </a:p>
          <a:p xmlns:a="http://schemas.openxmlformats.org/drawingml/2006/main">
            <a:r>
              <a:t>- specs/005-cloud-log-ingestion/spec.md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specs/005-cloud-log-ingestion/plan.md</a:t>
            </a:r>
          </a:p>
          <a:p xmlns:a="http://schemas.openxmlformats.org/drawingml/2006/main">
            <a:r>
              <a:t>- specs/004-contextual-risk-scoring/plan.md</a:t>
            </a:r>
          </a:p>
          <a:p xmlns:a="http://schemas.openxmlformats.org/drawingml/2006/main">
            <a:r>
              <a:t>- specs/003-sqlite-storage/plan.md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sentinel-access/backend/app/main.py</a:t>
            </a:r>
          </a:p>
          <a:p xmlns:a="http://schemas.openxmlformats.org/drawingml/2006/main">
            <a:r>
              <a:t>- sentinel-access/backend/app/routers/copilot.py</a:t>
            </a:r>
          </a:p>
          <a:p xmlns:a="http://schemas.openxmlformats.org/drawingml/2006/main">
            <a:r>
              <a:t>- specs/004-contextual-risk-scoring/spec.md</a:t>
            </a:r>
          </a:p>
          <a:p xmlns:a="http://schemas.openxmlformats.org/drawingml/2006/main">
            <a:r>
              <a:t>- specs/005-cloud-log-ingestion/plan.md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8a8d7224cb40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34711be8c640f2" /><Relationship Type="http://schemas.openxmlformats.org/officeDocument/2006/relationships/slideLayout" Target="/ppt/slideLayouts/slideLayout1.xml" Id="R534e9c5826e146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4e9c5826e146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9f11667a743e3" /><Relationship Type="http://schemas.openxmlformats.org/officeDocument/2006/relationships/notesSlide" Target="/ppt/notesSlides/notesSlide1.xml" Id="R3b2557866a7342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1d7b2da6440f4" /><Relationship Type="http://schemas.openxmlformats.org/officeDocument/2006/relationships/notesSlide" Target="/ppt/notesSlides/notesSlide2.xml" Id="R6927acd21d1346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e1ca6f2234a16" /><Relationship Type="http://schemas.openxmlformats.org/officeDocument/2006/relationships/notesSlide" Target="/ppt/notesSlides/notesSlide3.xml" Id="Ra5c640c6441045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7cac1245040f7" /><Relationship Type="http://schemas.openxmlformats.org/officeDocument/2006/relationships/notesSlide" Target="/ppt/notesSlides/notesSlide4.xml" Id="R2de6e9c139d249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8227f509c4491" /><Relationship Type="http://schemas.openxmlformats.org/officeDocument/2006/relationships/notesSlide" Target="/ppt/notesSlides/notesSlide5.xml" Id="R3f9f516329404b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ad9a059af4e8d" /><Relationship Type="http://schemas.openxmlformats.org/officeDocument/2006/relationships/notesSlide" Target="/ppt/notesSlides/notesSlide6.xml" Id="R934dc3b1d09a4e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97f5ab256477d" /><Relationship Type="http://schemas.openxmlformats.org/officeDocument/2006/relationships/notesSlide" Target="/ppt/notesSlides/notesSlide7.xml" Id="Rc48e0793e89c4e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1d9c518004351" /><Relationship Type="http://schemas.openxmlformats.org/officeDocument/2006/relationships/notesSlide" Target="/ppt/notesSlides/notesSlide8.xml" Id="R1f84500f53af45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6303070-3AE4-4C34-91B0-F2DC5B22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HACKATHON PROJECT · CLOUD ACCESS SECURITY</a:t>
            </a:r>
          </a:p>
        </p:txBody>
      </p:sp>
      <p:sp>
        <p:nvSpPr>
          <p:cNvPr id="2" name="cover-signal">
            <a:extLst xmlns:a="http://schemas.openxmlformats.org/drawingml/2006/main">
              <a:ext uri="{FF2B5EF4-FFF2-40B4-BE49-F238E27FC236}">
                <a16:creationId xmlns:a16="http://schemas.microsoft.com/office/drawing/2014/main" id="{356B469A-17F4-4EAB-9339-416C717D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714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B2BF190-21F6-4534-B6D5-72811A0E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00150"/>
            <a:ext cx="61912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Sentinel</a:t>
            </a:r>
          </a:p>
          <a:p xmlns:a="http://schemas.openxmlformats.org/drawingml/2006/main">
            <a:pPr algn="l">
              <a:defRPr sz="61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B2C7BDE-7AB3-4662-8FC2-23D5CB87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6381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Explainable cloud-access decisions</a:t>
            </a:r>
          </a:p>
          <a:p xmlns:a="http://schemas.openxmlformats.org/drawingml/2006/main">
            <a:pPr algn="l">
              <a:defRPr sz="240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for lean security teams</a:t>
            </a:r>
          </a:p>
        </p:txBody>
      </p:sp>
      <p:cxnSp>
        <p:nvCxnSpPr>
          <p:cNvPr id="14" name="cover-rule"/>
          <p:cNvCxnSpPr/>
          <p:nvPr/>
        </p:nvCxnSpPr>
        <p:spPr>
          <a:xfrm xmlns:a="http://schemas.openxmlformats.org/drawingml/2006/main">
            <a:off x="7810500" y="1200150"/>
            <a:ext cx="3390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6" name="cover-principle-1">
            <a:extLst xmlns:a="http://schemas.openxmlformats.org/drawingml/2006/main">
              <a:ext uri="{FF2B5EF4-FFF2-40B4-BE49-F238E27FC236}">
                <a16:creationId xmlns:a16="http://schemas.microsoft.com/office/drawing/2014/main" id="{3BA2ED4E-E624-41AB-9FB1-05F1A45F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7" name="cover-principle-2">
            <a:extLst xmlns:a="http://schemas.openxmlformats.org/drawingml/2006/main">
              <a:ext uri="{FF2B5EF4-FFF2-40B4-BE49-F238E27FC236}">
                <a16:creationId xmlns:a16="http://schemas.microsoft.com/office/drawing/2014/main" id="{764F7E0B-9AB9-4465-A746-02A2E4A3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8" name="cover-principle-3">
            <a:extLst xmlns:a="http://schemas.openxmlformats.org/drawingml/2006/main">
              <a:ext uri="{FF2B5EF4-FFF2-40B4-BE49-F238E27FC236}">
                <a16:creationId xmlns:a16="http://schemas.microsoft.com/office/drawing/2014/main" id="{AC18BBEF-E426-4EBA-8496-2824A5F6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9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77D4EA10-7D7F-48ED-80C6-692125B9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86250"/>
            <a:ext cx="3390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Noisy activity is reduced into prioritized findings, plain-language rationale, and an auditable path to action.</a:t>
            </a:r>
          </a:p>
        </p:txBody>
      </p:sp>
    </p:spTree>
    <p:extLst>
      <p:ext uri="{BB962C8B-B14F-4D97-AF65-F5344CB8AC3E}">
        <p14:creationId xmlns:p14="http://schemas.microsoft.com/office/powerpoint/2010/main" val="12112719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2">
            <a:extLst xmlns:a="http://schemas.openxmlformats.org/drawingml/2006/main">
              <a:ext uri="{FF2B5EF4-FFF2-40B4-BE49-F238E27FC236}">
                <a16:creationId xmlns:a16="http://schemas.microsoft.com/office/drawing/2014/main" id="{9ADC9842-C34E-4C9F-9335-94BC6FF2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BF57EC16-BE1C-4C0E-BD05-05615C1D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Cloud access produces alerts—not decisions</a:t>
            </a:r>
          </a:p>
        </p:txBody>
      </p:sp>
      <p:cxnSp>
        <p:nvCxnSpPr>
          <p:cNvPr id="21" name="header-rule-2"/>
          <p:cNvCxnSpPr/>
          <p:nvPr/>
        </p:nvCxnSpPr>
        <p:spPr>
          <a:xfrm xmlns:a="http://schemas.openxmlformats.org/drawingml/2006/main">
            <a:off x="533400" y="14859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0C7FDF78-3BDD-4E10-9E1F-E4262D61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problem-thesis">
            <a:extLst xmlns:a="http://schemas.openxmlformats.org/drawingml/2006/main">
              <a:ext uri="{FF2B5EF4-FFF2-40B4-BE49-F238E27FC236}">
                <a16:creationId xmlns:a16="http://schemas.microsoft.com/office/drawing/2014/main" id="{7190DD09-D2B1-47D4-8ED7-10E509D8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Security teams have signals.</a:t>
            </a:r>
          </a:p>
          <a:p xmlns:a="http://schemas.openxmlformats.org/drawingml/2006/main">
            <a:pPr algn="l"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What they need is</a:t>
            </a:r>
          </a:p>
          <a:p xmlns:a="http://schemas.openxmlformats.org/drawingml/2006/main">
            <a:pPr algn="l"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decision-ready context.</a:t>
            </a:r>
          </a:p>
        </p:txBody>
      </p:sp>
      <p:sp>
        <p:nvSpPr>
          <p:cNvPr id="6" name="problem-support">
            <a:extLst xmlns:a="http://schemas.openxmlformats.org/drawingml/2006/main">
              <a:ext uri="{FF2B5EF4-FFF2-40B4-BE49-F238E27FC236}">
                <a16:creationId xmlns:a16="http://schemas.microsoft.com/office/drawing/2014/main" id="{21B78B19-EFBA-400E-B3E0-DC79A0C3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4953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 lean team must connect identity, baseline behavior, cloud action, and business impact before it can explain what matters and act confidently.</a:t>
            </a:r>
          </a:p>
        </p:txBody>
      </p:sp>
      <p:cxnSp>
        <p:nvCxnSpPr>
          <p:cNvPr id="25" name="problem-rule-0"/>
          <p:cNvCxnSpPr/>
          <p:nvPr/>
        </p:nvCxnSpPr>
        <p:spPr>
          <a:xfrm xmlns:a="http://schemas.openxmlformats.org/drawingml/2006/main">
            <a:off x="6419850" y="179070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E0C5"/>
            </a:solidFill>
            <a:prstDash val="solid"/>
          </a:ln>
        </p:spPr>
      </p:cxnSp>
      <p:sp>
        <p:nvSpPr>
          <p:cNvPr id="8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9F68224F-FA14-4B2D-91BB-0A11ACE3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problem-title-0">
            <a:extLst xmlns:a="http://schemas.openxmlformats.org/drawingml/2006/main">
              <a:ext uri="{FF2B5EF4-FFF2-40B4-BE49-F238E27FC236}">
                <a16:creationId xmlns:a16="http://schemas.microsoft.com/office/drawing/2014/main" id="{EC8E738D-18F5-4519-BBC3-FC8E18CF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621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Fragmented telemetry</a:t>
            </a:r>
          </a:p>
        </p:txBody>
      </p:sp>
      <p:sp>
        <p:nvSpPr>
          <p:cNvPr id="10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27916ED8-5415-463D-BF0C-179DD350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Cloud and identity events arrive in different shapes and lose their lineage.</a:t>
            </a:r>
          </a:p>
        </p:txBody>
      </p:sp>
      <p:cxnSp>
        <p:nvCxnSpPr>
          <p:cNvPr id="29" name="problem-rule-1"/>
          <p:cNvCxnSpPr/>
          <p:nvPr/>
        </p:nvCxnSpPr>
        <p:spPr>
          <a:xfrm xmlns:a="http://schemas.openxmlformats.org/drawingml/2006/main">
            <a:off x="6419850" y="308610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6360BDD5-406D-4012-B172-17745BD3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problem-title-1">
            <a:extLst xmlns:a="http://schemas.openxmlformats.org/drawingml/2006/main">
              <a:ext uri="{FF2B5EF4-FFF2-40B4-BE49-F238E27FC236}">
                <a16:creationId xmlns:a16="http://schemas.microsoft.com/office/drawing/2014/main" id="{1165ABB4-E84C-401C-9773-F94C8EEA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575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Opaque prioritization</a:t>
            </a:r>
          </a:p>
        </p:txBody>
      </p:sp>
      <p:sp>
        <p:nvSpPr>
          <p:cNvPr id="14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91F6B269-92CB-4814-8739-AC10CBA6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957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 score without matched evidence is difficult to trust, defend, or tune.</a:t>
            </a:r>
          </a:p>
        </p:txBody>
      </p:sp>
      <p:cxnSp>
        <p:nvCxnSpPr>
          <p:cNvPr id="33" name="problem-rule-2"/>
          <p:cNvCxnSpPr/>
          <p:nvPr/>
        </p:nvCxnSpPr>
        <p:spPr>
          <a:xfrm xmlns:a="http://schemas.openxmlformats.org/drawingml/2006/main">
            <a:off x="6419850" y="438150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DDC5928B-189B-4630-9688-BC39402C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529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problem-title-2">
            <a:extLst xmlns:a="http://schemas.openxmlformats.org/drawingml/2006/main">
              <a:ext uri="{FF2B5EF4-FFF2-40B4-BE49-F238E27FC236}">
                <a16:creationId xmlns:a16="http://schemas.microsoft.com/office/drawing/2014/main" id="{857C533A-3EEF-4CF6-9FF9-A7144354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 investigation</a:t>
            </a:r>
          </a:p>
        </p:txBody>
      </p:sp>
      <p:sp>
        <p:nvSpPr>
          <p:cNvPr id="18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5CAEBCD1-F1A7-490A-AAA4-A9151EB9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911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Analysts jump between filters, raw logs, and reports before choosing an action.</a:t>
            </a:r>
          </a:p>
        </p:txBody>
      </p:sp>
    </p:spTree>
    <p:extLst>
      <p:ext uri="{BB962C8B-B14F-4D97-AF65-F5344CB8AC3E}">
        <p14:creationId xmlns:p14="http://schemas.microsoft.com/office/powerpoint/2010/main" val="1810667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3">
            <a:extLst xmlns:a="http://schemas.openxmlformats.org/drawingml/2006/main">
              <a:ext uri="{FF2B5EF4-FFF2-40B4-BE49-F238E27FC236}">
                <a16:creationId xmlns:a16="http://schemas.microsoft.com/office/drawing/2014/main" id="{F212D33A-6884-414B-8C70-49CB45AF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APPROACH &amp; SOLUTION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E9ED391-B0F0-4102-B970-3F3334F3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Our approach makes every decision traceable</a:t>
            </a:r>
          </a:p>
        </p:txBody>
      </p:sp>
      <p:cxnSp>
        <p:nvCxnSpPr>
          <p:cNvPr id="29" name="header-rule-3"/>
          <p:cNvCxnSpPr/>
          <p:nvPr/>
        </p:nvCxnSpPr>
        <p:spPr>
          <a:xfrm xmlns:a="http://schemas.openxmlformats.org/drawingml/2006/main">
            <a:off x="533400" y="14859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F2F777D3-315C-4C25-B59E-1F530BFE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31" name="solution-link-0"/>
          <p:cNvCxnSpPr/>
          <p:nvPr/>
        </p:nvCxnSpPr>
        <p:spPr>
          <a:xfrm xmlns:a="http://schemas.openxmlformats.org/drawingml/2006/main">
            <a:off x="2876550" y="33528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7D70"/>
            </a:solidFill>
            <a:prstDash val="solid"/>
          </a:ln>
        </p:spPr>
      </p:cxnSp>
      <p:sp>
        <p:nvSpPr>
          <p:cNvPr id="6" name="solution-chevron-0">
            <a:extLst xmlns:a="http://schemas.openxmlformats.org/drawingml/2006/main">
              <a:ext uri="{FF2B5EF4-FFF2-40B4-BE49-F238E27FC236}">
                <a16:creationId xmlns:a16="http://schemas.microsoft.com/office/drawing/2014/main" id="{A4C7B175-6A55-47F6-841C-45C10C53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cxnSp>
        <p:nvCxnSpPr>
          <p:cNvPr id="33" name="solution-link-1"/>
          <p:cNvCxnSpPr/>
          <p:nvPr/>
        </p:nvCxnSpPr>
        <p:spPr>
          <a:xfrm xmlns:a="http://schemas.openxmlformats.org/drawingml/2006/main">
            <a:off x="5715000" y="33528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7D70"/>
            </a:solidFill>
            <a:prstDash val="solid"/>
          </a:ln>
        </p:spPr>
      </p:cxnSp>
      <p:sp>
        <p:nvSpPr>
          <p:cNvPr id="8" name="solution-chevron-1">
            <a:extLst xmlns:a="http://schemas.openxmlformats.org/drawingml/2006/main">
              <a:ext uri="{FF2B5EF4-FFF2-40B4-BE49-F238E27FC236}">
                <a16:creationId xmlns:a16="http://schemas.microsoft.com/office/drawing/2014/main" id="{33D7944C-FB74-4646-A620-B6BC2A1B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57550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cxnSp>
        <p:nvCxnSpPr>
          <p:cNvPr id="35" name="solution-link-2"/>
          <p:cNvCxnSpPr/>
          <p:nvPr/>
        </p:nvCxnSpPr>
        <p:spPr>
          <a:xfrm xmlns:a="http://schemas.openxmlformats.org/drawingml/2006/main">
            <a:off x="8553450" y="33528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7D70"/>
            </a:solidFill>
            <a:prstDash val="solid"/>
          </a:ln>
        </p:spPr>
      </p:cxnSp>
      <p:sp>
        <p:nvSpPr>
          <p:cNvPr id="10" name="solution-chevron-2">
            <a:extLst xmlns:a="http://schemas.openxmlformats.org/drawingml/2006/main">
              <a:ext uri="{FF2B5EF4-FFF2-40B4-BE49-F238E27FC236}">
                <a16:creationId xmlns:a16="http://schemas.microsoft.com/office/drawing/2014/main" id="{31F57840-2639-4545-AC07-AA92B1CC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57550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sp>
        <p:nvSpPr>
          <p:cNvPr id="11" name="solution-1-box">
            <a:extLst xmlns:a="http://schemas.openxmlformats.org/drawingml/2006/main">
              <a:ext uri="{FF2B5EF4-FFF2-40B4-BE49-F238E27FC236}">
                <a16:creationId xmlns:a16="http://schemas.microsoft.com/office/drawing/2014/main" id="{9D92E913-4746-4AB7-9A60-5530E2B0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olution-1-title">
            <a:extLst xmlns:a="http://schemas.openxmlformats.org/drawingml/2006/main">
              <a:ext uri="{FF2B5EF4-FFF2-40B4-BE49-F238E27FC236}">
                <a16:creationId xmlns:a16="http://schemas.microsoft.com/office/drawing/2014/main" id="{3C9E5B7F-5913-4406-83EC-6A229C45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1 · Ingest</a:t>
            </a:r>
          </a:p>
        </p:txBody>
      </p:sp>
      <p:sp>
        <p:nvSpPr>
          <p:cNvPr id="13" name="solution-1-body">
            <a:extLst xmlns:a="http://schemas.openxmlformats.org/drawingml/2006/main">
              <a:ext uri="{FF2B5EF4-FFF2-40B4-BE49-F238E27FC236}">
                <a16:creationId xmlns:a16="http://schemas.microsoft.com/office/drawing/2014/main" id="{B4B96748-A8A0-4ABE-A192-E9F85263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19240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CSV/JSON import today; provider-native cloud logs next.</a:t>
            </a:r>
          </a:p>
        </p:txBody>
      </p:sp>
      <p:sp>
        <p:nvSpPr>
          <p:cNvPr id="14" name="solution-2-box">
            <a:extLst xmlns:a="http://schemas.openxmlformats.org/drawingml/2006/main">
              <a:ext uri="{FF2B5EF4-FFF2-40B4-BE49-F238E27FC236}">
                <a16:creationId xmlns:a16="http://schemas.microsoft.com/office/drawing/2014/main" id="{D63A98A2-8524-4744-9CD7-8CAA8A89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4790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olution-2-title">
            <a:extLst xmlns:a="http://schemas.openxmlformats.org/drawingml/2006/main">
              <a:ext uri="{FF2B5EF4-FFF2-40B4-BE49-F238E27FC236}">
                <a16:creationId xmlns:a16="http://schemas.microsoft.com/office/drawing/2014/main" id="{006BFB02-3AB2-4033-870E-E205A93B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384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2 · Context</a:t>
            </a:r>
          </a:p>
        </p:txBody>
      </p:sp>
      <p:sp>
        <p:nvSpPr>
          <p:cNvPr id="16" name="solution-2-body">
            <a:extLst xmlns:a="http://schemas.openxmlformats.org/drawingml/2006/main">
              <a:ext uri="{FF2B5EF4-FFF2-40B4-BE49-F238E27FC236}">
                <a16:creationId xmlns:a16="http://schemas.microsoft.com/office/drawing/2014/main" id="{70D5A900-06F3-46D2-AC10-945A16C6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33700"/>
            <a:ext cx="19240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SQLite-backed activity, identities, evidence, and baselines.</a:t>
            </a:r>
          </a:p>
        </p:txBody>
      </p:sp>
      <p:sp>
        <p:nvSpPr>
          <p:cNvPr id="17" name="solution-3-box">
            <a:extLst xmlns:a="http://schemas.openxmlformats.org/drawingml/2006/main">
              <a:ext uri="{FF2B5EF4-FFF2-40B4-BE49-F238E27FC236}">
                <a16:creationId xmlns:a16="http://schemas.microsoft.com/office/drawing/2014/main" id="{4E817450-9784-4758-A8D0-DBB2DF97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7D70"/>
            </a:solidFill>
            <a:prstDash val="dash"/>
          </a:ln>
        </p:spPr>
      </p:sp>
      <p:sp>
        <p:nvSpPr>
          <p:cNvPr id="18" name="solution-3-title">
            <a:extLst xmlns:a="http://schemas.openxmlformats.org/drawingml/2006/main">
              <a:ext uri="{FF2B5EF4-FFF2-40B4-BE49-F238E27FC236}">
                <a16:creationId xmlns:a16="http://schemas.microsoft.com/office/drawing/2014/main" id="{E15E91FD-D23A-45E2-8D63-9F781B58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3 · Decide</a:t>
            </a:r>
          </a:p>
        </p:txBody>
      </p:sp>
      <p:sp>
        <p:nvSpPr>
          <p:cNvPr id="19" name="solution-3-body">
            <a:extLst xmlns:a="http://schemas.openxmlformats.org/drawingml/2006/main">
              <a:ext uri="{FF2B5EF4-FFF2-40B4-BE49-F238E27FC236}">
                <a16:creationId xmlns:a16="http://schemas.microsoft.com/office/drawing/2014/main" id="{A9820FD1-4648-4FE4-B548-7C67107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33700"/>
            <a:ext cx="19240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Transparent rules plus a bounded AI contextual adjustment.</a:t>
            </a:r>
          </a:p>
        </p:txBody>
      </p:sp>
      <p:sp>
        <p:nvSpPr>
          <p:cNvPr id="20" name="solution-4-box">
            <a:extLst xmlns:a="http://schemas.openxmlformats.org/drawingml/2006/main">
              <a:ext uri="{FF2B5EF4-FFF2-40B4-BE49-F238E27FC236}">
                <a16:creationId xmlns:a16="http://schemas.microsoft.com/office/drawing/2014/main" id="{681EDA8E-6770-410A-914E-146E3F20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olution-4-title">
            <a:extLst xmlns:a="http://schemas.openxmlformats.org/drawingml/2006/main">
              <a:ext uri="{FF2B5EF4-FFF2-40B4-BE49-F238E27FC236}">
                <a16:creationId xmlns:a16="http://schemas.microsoft.com/office/drawing/2014/main" id="{7192623D-1B27-4475-8357-B6878486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384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4 · Act</a:t>
            </a:r>
          </a:p>
        </p:txBody>
      </p:sp>
      <p:sp>
        <p:nvSpPr>
          <p:cNvPr id="22" name="solution-4-body">
            <a:extLst xmlns:a="http://schemas.openxmlformats.org/drawingml/2006/main">
              <a:ext uri="{FF2B5EF4-FFF2-40B4-BE49-F238E27FC236}">
                <a16:creationId xmlns:a16="http://schemas.microsoft.com/office/drawing/2014/main" id="{2BEC71B2-A3C2-4975-B716-76987F26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33700"/>
            <a:ext cx="19240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Command Center, evidence dossier, copilot, and reports.</a:t>
            </a:r>
          </a:p>
        </p:txBody>
      </p:sp>
      <p:sp>
        <p:nvSpPr>
          <p:cNvPr id="23" name="solution-mvp">
            <a:extLst xmlns:a="http://schemas.openxmlformats.org/drawingml/2006/main">
              <a:ext uri="{FF2B5EF4-FFF2-40B4-BE49-F238E27FC236}">
                <a16:creationId xmlns:a16="http://schemas.microsoft.com/office/drawing/2014/main" id="{A406EAB6-88AA-4E9A-9E61-AFF8BAFC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SOLID = MVP CAPABILITY</a:t>
            </a:r>
          </a:p>
        </p:txBody>
      </p:sp>
      <p:sp>
        <p:nvSpPr>
          <p:cNvPr id="24" name="solution-roadmap">
            <a:extLst xmlns:a="http://schemas.openxmlformats.org/drawingml/2006/main">
              <a:ext uri="{FF2B5EF4-FFF2-40B4-BE49-F238E27FC236}">
                <a16:creationId xmlns:a16="http://schemas.microsoft.com/office/drawing/2014/main" id="{B4346DB4-2B00-47AE-8E59-C550644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4"/>
                </a:solidFill>
                <a:latin typeface="Arial"/>
                <a:ea typeface="Arial"/>
                <a:cs typeface="Arial"/>
              </a:rPr>
              <a:t>DASHED = DESIGNED EXPANSION</a:t>
            </a:r>
          </a:p>
        </p:txBody>
      </p:sp>
      <p:sp>
        <p:nvSpPr>
          <p:cNvPr id="25" name="solution-outcome-box">
            <a:extLst xmlns:a="http://schemas.openxmlformats.org/drawingml/2006/main">
              <a:ext uri="{FF2B5EF4-FFF2-40B4-BE49-F238E27FC236}">
                <a16:creationId xmlns:a16="http://schemas.microsoft.com/office/drawing/2014/main" id="{6F951562-57D9-4712-BDCA-BC332284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F2"/>
          </a:solidFill>
          <a:ln xmlns:a="http://schemas.openxmlformats.org/drawingml/2006/main" w="9525">
            <a:solidFill>
              <a:srgbClr val="39E0C5"/>
            </a:solidFill>
            <a:prstDash val="solid"/>
          </a:ln>
        </p:spPr>
      </p:sp>
      <p:sp>
        <p:nvSpPr>
          <p:cNvPr id="26" name="solution-outcome">
            <a:extLst xmlns:a="http://schemas.openxmlformats.org/drawingml/2006/main">
              <a:ext uri="{FF2B5EF4-FFF2-40B4-BE49-F238E27FC236}">
                <a16:creationId xmlns:a16="http://schemas.microsoft.com/office/drawing/2014/main" id="{EFB5ACC8-F86B-49FB-953A-FE5002DE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Outcome: analysts see what happened, why it matters, the evidence, and the next action.</a:t>
            </a:r>
          </a:p>
        </p:txBody>
      </p:sp>
    </p:spTree>
    <p:extLst>
      <p:ext uri="{BB962C8B-B14F-4D97-AF65-F5344CB8AC3E}">
        <p14:creationId xmlns:p14="http://schemas.microsoft.com/office/powerpoint/2010/main" val="1051982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eyebrow-4">
            <a:extLst xmlns:a="http://schemas.openxmlformats.org/drawingml/2006/main">
              <a:ext uri="{FF2B5EF4-FFF2-40B4-BE49-F238E27FC236}">
                <a16:creationId xmlns:a16="http://schemas.microsoft.com/office/drawing/2014/main" id="{320AA86A-D6F3-4FC4-A5D3-F6C6AFE6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HIGH-LEVEL TECHNICAL ARCHITECTURE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9F86E37-4396-4050-9C0F-7D9876BB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MVP is modular from interface to intelligence</a:t>
            </a:r>
          </a:p>
        </p:txBody>
      </p:sp>
      <p:cxnSp>
        <p:nvCxnSpPr>
          <p:cNvPr id="39" name="header-rule-4"/>
          <p:cNvCxnSpPr/>
          <p:nvPr/>
        </p:nvCxnSpPr>
        <p:spPr>
          <a:xfrm xmlns:a="http://schemas.openxmlformats.org/drawingml/2006/main">
            <a:off x="533400" y="14859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CC30E4F5-EE82-4DC0-9DAD-677B7892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41" name="tech-link-0"/>
          <p:cNvCxnSpPr/>
          <p:nvPr/>
        </p:nvCxnSpPr>
        <p:spPr>
          <a:xfrm xmlns:a="http://schemas.openxmlformats.org/drawingml/2006/main">
            <a:off x="2800350" y="3276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7D70"/>
            </a:solidFill>
            <a:prstDash val="solid"/>
          </a:ln>
        </p:spPr>
      </p:cxnSp>
      <p:sp>
        <p:nvSpPr>
          <p:cNvPr id="6" name="tech-chevron-0">
            <a:extLst xmlns:a="http://schemas.openxmlformats.org/drawingml/2006/main">
              <a:ext uri="{FF2B5EF4-FFF2-40B4-BE49-F238E27FC236}">
                <a16:creationId xmlns:a16="http://schemas.microsoft.com/office/drawing/2014/main" id="{858EB1C8-8A40-4C8E-A8AF-4978B73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81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cxnSp>
        <p:nvCxnSpPr>
          <p:cNvPr id="43" name="tech-link-1"/>
          <p:cNvCxnSpPr/>
          <p:nvPr/>
        </p:nvCxnSpPr>
        <p:spPr>
          <a:xfrm xmlns:a="http://schemas.openxmlformats.org/drawingml/2006/main">
            <a:off x="5734050" y="3276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7D70"/>
            </a:solidFill>
            <a:prstDash val="solid"/>
          </a:ln>
        </p:spPr>
      </p:cxnSp>
      <p:sp>
        <p:nvSpPr>
          <p:cNvPr id="8" name="tech-chevron-1">
            <a:extLst xmlns:a="http://schemas.openxmlformats.org/drawingml/2006/main">
              <a:ext uri="{FF2B5EF4-FFF2-40B4-BE49-F238E27FC236}">
                <a16:creationId xmlns:a16="http://schemas.microsoft.com/office/drawing/2014/main" id="{C3B6D127-6CC4-4BBB-A247-CE761924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81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cxnSp>
        <p:nvCxnSpPr>
          <p:cNvPr id="45" name="tech-link-2"/>
          <p:cNvCxnSpPr/>
          <p:nvPr/>
        </p:nvCxnSpPr>
        <p:spPr>
          <a:xfrm xmlns:a="http://schemas.openxmlformats.org/drawingml/2006/main">
            <a:off x="8534400" y="3276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7D70"/>
            </a:solidFill>
            <a:prstDash val="solid"/>
          </a:ln>
        </p:spPr>
      </p:cxnSp>
      <p:sp>
        <p:nvSpPr>
          <p:cNvPr id="10" name="tech-chevron-2">
            <a:extLst xmlns:a="http://schemas.openxmlformats.org/drawingml/2006/main">
              <a:ext uri="{FF2B5EF4-FFF2-40B4-BE49-F238E27FC236}">
                <a16:creationId xmlns:a16="http://schemas.microsoft.com/office/drawing/2014/main" id="{4EC6C300-0BB7-406B-B6F4-4508C61B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cxnSp>
        <p:nvCxnSpPr>
          <p:cNvPr id="47" name="tech-planned-link"/>
          <p:cNvCxnSpPr/>
          <p:nvPr/>
        </p:nvCxnSpPr>
        <p:spPr>
          <a:xfrm xmlns:a="http://schemas.openxmlformats.org/drawingml/2006/main">
            <a:off x="1657350" y="41719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7D70"/>
            </a:solidFill>
            <a:prstDash val="dash"/>
          </a:ln>
        </p:spPr>
      </p:cxnSp>
      <p:sp>
        <p:nvSpPr>
          <p:cNvPr id="12" name="tech-col-1-title">
            <a:extLst xmlns:a="http://schemas.openxmlformats.org/drawingml/2006/main">
              <a:ext uri="{FF2B5EF4-FFF2-40B4-BE49-F238E27FC236}">
                <a16:creationId xmlns:a16="http://schemas.microsoft.com/office/drawing/2014/main" id="{871CF986-B336-4979-9DA7-6C564492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TELEMETRY</a:t>
            </a:r>
          </a:p>
        </p:txBody>
      </p:sp>
      <p:sp>
        <p:nvSpPr>
          <p:cNvPr id="13" name="tech-upload">
            <a:extLst xmlns:a="http://schemas.openxmlformats.org/drawingml/2006/main">
              <a:ext uri="{FF2B5EF4-FFF2-40B4-BE49-F238E27FC236}">
                <a16:creationId xmlns:a16="http://schemas.microsoft.com/office/drawing/2014/main" id="{6CF08E6B-1F43-48B6-9ADB-9DBC1A10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266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ch-upload-title">
            <a:extLst xmlns:a="http://schemas.openxmlformats.org/drawingml/2006/main">
              <a:ext uri="{FF2B5EF4-FFF2-40B4-BE49-F238E27FC236}">
                <a16:creationId xmlns:a16="http://schemas.microsoft.com/office/drawing/2014/main" id="{177E5AF7-33F0-412A-99DC-C45D7852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Synthetic CSV / JSON</a:t>
            </a:r>
          </a:p>
        </p:txBody>
      </p:sp>
      <p:sp>
        <p:nvSpPr>
          <p:cNvPr id="15" name="tech-upload-body">
            <a:extLst xmlns:a="http://schemas.openxmlformats.org/drawingml/2006/main">
              <a:ext uri="{FF2B5EF4-FFF2-40B4-BE49-F238E27FC236}">
                <a16:creationId xmlns:a16="http://schemas.microsoft.com/office/drawing/2014/main" id="{858BFCA7-4FDD-4F28-9AA0-699C492E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885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Upload boundary</a:t>
            </a:r>
          </a:p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≤10,000 records</a:t>
            </a:r>
          </a:p>
        </p:txBody>
      </p:sp>
      <p:sp>
        <p:nvSpPr>
          <p:cNvPr id="16" name="tech-cloud">
            <a:extLst xmlns:a="http://schemas.openxmlformats.org/drawingml/2006/main">
              <a:ext uri="{FF2B5EF4-FFF2-40B4-BE49-F238E27FC236}">
                <a16:creationId xmlns:a16="http://schemas.microsoft.com/office/drawing/2014/main" id="{852B0483-8FA0-4262-AEB6-ED0493AA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2266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7D70"/>
            </a:solidFill>
            <a:prstDash val="dash"/>
          </a:ln>
        </p:spPr>
      </p:sp>
      <p:sp>
        <p:nvSpPr>
          <p:cNvPr id="17" name="tech-cloud-text">
            <a:extLst xmlns:a="http://schemas.openxmlformats.org/drawingml/2006/main">
              <a:ext uri="{FF2B5EF4-FFF2-40B4-BE49-F238E27FC236}">
                <a16:creationId xmlns:a16="http://schemas.microsoft.com/office/drawing/2014/main" id="{0B4C8087-FE58-4320-95C4-969F992D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1924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AWS · Azure · GCP</a:t>
            </a:r>
          </a:p>
          <a:p xmlns:a="http://schemas.openxmlformats.org/drawingml/2006/main">
            <a:pPr algn="l"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normalizers</a:t>
            </a:r>
          </a:p>
          <a:p xmlns:a="http://schemas.openxmlformats.org/drawingml/2006/main">
            <a:pPr algn="l"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8" name="tech-col-2-title">
            <a:extLst xmlns:a="http://schemas.openxmlformats.org/drawingml/2006/main">
              <a:ext uri="{FF2B5EF4-FFF2-40B4-BE49-F238E27FC236}">
                <a16:creationId xmlns:a16="http://schemas.microsoft.com/office/drawing/2014/main" id="{7F389AA3-0CD1-42DB-B09E-8FB25D68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431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API &amp; STORAGE</a:t>
            </a:r>
          </a:p>
        </p:txBody>
      </p:sp>
      <p:sp>
        <p:nvSpPr>
          <p:cNvPr id="19" name="tech-fastapi">
            <a:extLst xmlns:a="http://schemas.openxmlformats.org/drawingml/2006/main">
              <a:ext uri="{FF2B5EF4-FFF2-40B4-BE49-F238E27FC236}">
                <a16:creationId xmlns:a16="http://schemas.microsoft.com/office/drawing/2014/main" id="{10CF7605-58A3-4A02-9C02-0E4F517D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81250"/>
            <a:ext cx="2552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ch-fastapi-title">
            <a:extLst xmlns:a="http://schemas.openxmlformats.org/drawingml/2006/main">
              <a:ext uri="{FF2B5EF4-FFF2-40B4-BE49-F238E27FC236}">
                <a16:creationId xmlns:a16="http://schemas.microsoft.com/office/drawing/2014/main" id="{BD253513-5347-4D55-8AB8-8281BF02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908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21" name="tech-fastapi-body">
            <a:extLst xmlns:a="http://schemas.openxmlformats.org/drawingml/2006/main">
              <a:ext uri="{FF2B5EF4-FFF2-40B4-BE49-F238E27FC236}">
                <a16:creationId xmlns:a16="http://schemas.microsoft.com/office/drawing/2014/main" id="{B1C24306-5281-42BD-9743-5B6054A5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2171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REST routers for data, investigations, identities, policy, reports, and copilot</a:t>
            </a:r>
          </a:p>
        </p:txBody>
      </p:sp>
      <p:sp>
        <p:nvSpPr>
          <p:cNvPr id="22" name="tech-sqlite">
            <a:extLst xmlns:a="http://schemas.openxmlformats.org/drawingml/2006/main">
              <a:ext uri="{FF2B5EF4-FFF2-40B4-BE49-F238E27FC236}">
                <a16:creationId xmlns:a16="http://schemas.microsoft.com/office/drawing/2014/main" id="{721EF30F-5399-4669-BDC6-6BBDAA26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3865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tech-sqlite-title">
            <a:extLst xmlns:a="http://schemas.openxmlformats.org/drawingml/2006/main">
              <a:ext uri="{FF2B5EF4-FFF2-40B4-BE49-F238E27FC236}">
                <a16:creationId xmlns:a16="http://schemas.microsoft.com/office/drawing/2014/main" id="{22041094-678D-4C2F-8097-A74FBC8A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720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Store + SQLite</a:t>
            </a:r>
          </a:p>
        </p:txBody>
      </p:sp>
      <p:sp>
        <p:nvSpPr>
          <p:cNvPr id="24" name="tech-sqlite-body">
            <a:extLst xmlns:a="http://schemas.openxmlformats.org/drawingml/2006/main">
              <a:ext uri="{FF2B5EF4-FFF2-40B4-BE49-F238E27FC236}">
                <a16:creationId xmlns:a16="http://schemas.microsoft.com/office/drawing/2014/main" id="{19464873-7779-4C72-915E-FD4926D7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29200"/>
            <a:ext cx="2171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Findings · activity</a:t>
            </a:r>
          </a:p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Identities · policies</a:t>
            </a:r>
          </a:p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Reports · AI cache</a:t>
            </a:r>
          </a:p>
        </p:txBody>
      </p:sp>
      <p:sp>
        <p:nvSpPr>
          <p:cNvPr id="25" name="tech-col-3-title">
            <a:extLst xmlns:a="http://schemas.openxmlformats.org/drawingml/2006/main">
              <a:ext uri="{FF2B5EF4-FFF2-40B4-BE49-F238E27FC236}">
                <a16:creationId xmlns:a16="http://schemas.microsoft.com/office/drawing/2014/main" id="{752AC57E-DEFA-42F7-8665-EB542918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431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AI LAYER</a:t>
            </a:r>
          </a:p>
        </p:txBody>
      </p:sp>
      <p:sp>
        <p:nvSpPr>
          <p:cNvPr id="26" name="tech-litellm">
            <a:extLst xmlns:a="http://schemas.openxmlformats.org/drawingml/2006/main">
              <a:ext uri="{FF2B5EF4-FFF2-40B4-BE49-F238E27FC236}">
                <a16:creationId xmlns:a16="http://schemas.microsoft.com/office/drawing/2014/main" id="{CB5E1FAF-C31D-44B8-A0BC-39CB8E38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419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F2"/>
          </a:solidFill>
          <a:ln xmlns:a="http://schemas.openxmlformats.org/drawingml/2006/main" w="9525">
            <a:solidFill>
              <a:srgbClr val="39E0C5"/>
            </a:solidFill>
            <a:prstDash val="solid"/>
          </a:ln>
        </p:spPr>
      </p:sp>
      <p:sp>
        <p:nvSpPr>
          <p:cNvPr id="27" name="tech-litellm-title">
            <a:extLst xmlns:a="http://schemas.openxmlformats.org/drawingml/2006/main">
              <a:ext uri="{FF2B5EF4-FFF2-40B4-BE49-F238E27FC236}">
                <a16:creationId xmlns:a16="http://schemas.microsoft.com/office/drawing/2014/main" id="{C6F58F8D-5E70-4444-B8B0-D16E1F04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liteLLM</a:t>
            </a:r>
          </a:p>
        </p:txBody>
      </p:sp>
      <p:sp>
        <p:nvSpPr>
          <p:cNvPr id="28" name="tech-litellm-body">
            <a:extLst xmlns:a="http://schemas.openxmlformats.org/drawingml/2006/main">
              <a:ext uri="{FF2B5EF4-FFF2-40B4-BE49-F238E27FC236}">
                <a16:creationId xmlns:a16="http://schemas.microsoft.com/office/drawing/2014/main" id="{DA7A69E4-1C0F-4036-B5F1-3BB29727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OpenAI-compatible chat path</a:t>
            </a:r>
          </a:p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15-second timeout</a:t>
            </a:r>
          </a:p>
        </p:txBody>
      </p:sp>
      <p:sp>
        <p:nvSpPr>
          <p:cNvPr id="29" name="tech-ai-features">
            <a:extLst xmlns:a="http://schemas.openxmlformats.org/drawingml/2006/main">
              <a:ext uri="{FF2B5EF4-FFF2-40B4-BE49-F238E27FC236}">
                <a16:creationId xmlns:a16="http://schemas.microsoft.com/office/drawing/2014/main" id="{CED4BFE3-181E-47F7-8FE0-7AD9F139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38650"/>
            <a:ext cx="2419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tech-ai-features-title">
            <a:extLst xmlns:a="http://schemas.openxmlformats.org/drawingml/2006/main">
              <a:ext uri="{FF2B5EF4-FFF2-40B4-BE49-F238E27FC236}">
                <a16:creationId xmlns:a16="http://schemas.microsoft.com/office/drawing/2014/main" id="{78E60F03-E69C-4DD8-8324-5D17ADC9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720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AI capabilities</a:t>
            </a:r>
          </a:p>
        </p:txBody>
      </p:sp>
      <p:sp>
        <p:nvSpPr>
          <p:cNvPr id="31" name="tech-ai-features-body">
            <a:extLst xmlns:a="http://schemas.openxmlformats.org/drawingml/2006/main">
              <a:ext uri="{FF2B5EF4-FFF2-40B4-BE49-F238E27FC236}">
                <a16:creationId xmlns:a16="http://schemas.microsoft.com/office/drawing/2014/main" id="{3E5E7DC8-74B5-41D8-AF7C-170602BC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29200"/>
            <a:ext cx="203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Explanations</a:t>
            </a:r>
          </a:p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Copilot tool calls</a:t>
            </a:r>
          </a:p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Report narratives</a:t>
            </a:r>
          </a:p>
        </p:txBody>
      </p:sp>
      <p:sp>
        <p:nvSpPr>
          <p:cNvPr id="32" name="tech-col-4-title">
            <a:extLst xmlns:a="http://schemas.openxmlformats.org/drawingml/2006/main">
              <a:ext uri="{FF2B5EF4-FFF2-40B4-BE49-F238E27FC236}">
                <a16:creationId xmlns:a16="http://schemas.microsoft.com/office/drawing/2014/main" id="{664B8D96-AABD-461C-B6C8-2377E9C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431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ANALYST EXPERIENCE</a:t>
            </a:r>
          </a:p>
        </p:txBody>
      </p:sp>
      <p:sp>
        <p:nvSpPr>
          <p:cNvPr id="33" name="tech-react">
            <a:extLst xmlns:a="http://schemas.openxmlformats.org/drawingml/2006/main">
              <a:ext uri="{FF2B5EF4-FFF2-40B4-BE49-F238E27FC236}">
                <a16:creationId xmlns:a16="http://schemas.microsoft.com/office/drawing/2014/main" id="{D2B193ED-B156-4688-9508-1ECF3C13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1250"/>
            <a:ext cx="27432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34" name="tech-react-title">
            <a:extLst xmlns:a="http://schemas.openxmlformats.org/drawingml/2006/main">
              <a:ext uri="{FF2B5EF4-FFF2-40B4-BE49-F238E27FC236}">
                <a16:creationId xmlns:a16="http://schemas.microsoft.com/office/drawing/2014/main" id="{5883B2E3-6D01-4828-BE40-44E5F61A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+ Vite</a:t>
            </a:r>
          </a:p>
        </p:txBody>
      </p:sp>
      <p:sp>
        <p:nvSpPr>
          <p:cNvPr id="35" name="tech-react-body">
            <a:extLst xmlns:a="http://schemas.openxmlformats.org/drawingml/2006/main">
              <a:ext uri="{FF2B5EF4-FFF2-40B4-BE49-F238E27FC236}">
                <a16:creationId xmlns:a16="http://schemas.microsoft.com/office/drawing/2014/main" id="{718CC19C-E8BA-46DB-91DF-C86764B4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228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Command Center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Activity Explorer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Identity Profiles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Cloud Estate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Policies &amp; Reports</a:t>
            </a:r>
          </a:p>
        </p:txBody>
      </p:sp>
      <p:sp>
        <p:nvSpPr>
          <p:cNvPr id="36" name="tech-react-footer">
            <a:extLst xmlns:a="http://schemas.openxmlformats.org/drawingml/2006/main">
              <a:ext uri="{FF2B5EF4-FFF2-40B4-BE49-F238E27FC236}">
                <a16:creationId xmlns:a16="http://schemas.microsoft.com/office/drawing/2014/main" id="{161667BE-172A-4855-B1F7-7B1CF6E7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91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E0C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E0C5"/>
                </a:solidFill>
                <a:latin typeface="Arial"/>
                <a:ea typeface="Arial"/>
                <a:cs typeface="Arial"/>
              </a:rPr>
              <a:t>Evidence dossier + Ask Sentinel</a:t>
            </a:r>
          </a:p>
        </p:txBody>
      </p:sp>
    </p:spTree>
    <p:extLst>
      <p:ext uri="{BB962C8B-B14F-4D97-AF65-F5344CB8AC3E}">
        <p14:creationId xmlns:p14="http://schemas.microsoft.com/office/powerpoint/2010/main" val="6960813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5">
            <a:extLst xmlns:a="http://schemas.openxmlformats.org/drawingml/2006/main">
              <a:ext uri="{FF2B5EF4-FFF2-40B4-BE49-F238E27FC236}">
                <a16:creationId xmlns:a16="http://schemas.microsoft.com/office/drawing/2014/main" id="{F1A296C5-DD56-400E-9432-2A8CEFD4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AI / ML COMPONENTS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7610E57-AB9C-41A2-9EBA-8C4618A4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AI adds context without owning the controls</a:t>
            </a:r>
          </a:p>
        </p:txBody>
      </p:sp>
      <p:cxnSp>
        <p:nvCxnSpPr>
          <p:cNvPr id="22" name="header-rule-5"/>
          <p:cNvCxnSpPr/>
          <p:nvPr/>
        </p:nvCxnSpPr>
        <p:spPr>
          <a:xfrm xmlns:a="http://schemas.openxmlformats.org/drawingml/2006/main">
            <a:off x="533400" y="14859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24774367-2E10-410A-9254-899805B3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24" name="ai-top-rule-0"/>
          <p:cNvCxnSpPr/>
          <p:nvPr/>
        </p:nvCxnSpPr>
        <p:spPr>
          <a:xfrm xmlns:a="http://schemas.openxmlformats.org/drawingml/2006/main">
            <a:off x="533400" y="20955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6" name="ai-tag-0">
            <a:extLst xmlns:a="http://schemas.openxmlformats.org/drawingml/2006/main">
              <a:ext uri="{FF2B5EF4-FFF2-40B4-BE49-F238E27FC236}">
                <a16:creationId xmlns:a16="http://schemas.microsoft.com/office/drawing/2014/main" id="{C7CE1151-DDA7-47C3-AF8A-F68409D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7" name="ai-title-0">
            <a:extLst xmlns:a="http://schemas.openxmlformats.org/drawingml/2006/main">
              <a:ext uri="{FF2B5EF4-FFF2-40B4-BE49-F238E27FC236}">
                <a16:creationId xmlns:a16="http://schemas.microsoft.com/office/drawing/2014/main" id="{DE25B624-AB52-413C-A5E1-765ADAB1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Finding explanations</a:t>
            </a:r>
          </a:p>
        </p:txBody>
      </p:sp>
      <p:sp>
        <p:nvSpPr>
          <p:cNvPr id="8" name="ai-body-0">
            <a:extLst xmlns:a="http://schemas.openxmlformats.org/drawingml/2006/main">
              <a:ext uri="{FF2B5EF4-FFF2-40B4-BE49-F238E27FC236}">
                <a16:creationId xmlns:a16="http://schemas.microsoft.com/office/drawing/2014/main" id="{3AB6A8A0-C998-4AC6-996E-7A588C69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Generates 2–3 plain-language sentences from a finding’s evidence and baseline; caches the result; falls back safely.</a:t>
            </a:r>
          </a:p>
        </p:txBody>
      </p:sp>
      <p:cxnSp>
        <p:nvCxnSpPr>
          <p:cNvPr id="28" name="ai-top-rule-1"/>
          <p:cNvCxnSpPr/>
          <p:nvPr/>
        </p:nvCxnSpPr>
        <p:spPr>
          <a:xfrm xmlns:a="http://schemas.openxmlformats.org/drawingml/2006/main">
            <a:off x="4191000" y="20955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9E0C5"/>
            </a:solidFill>
            <a:prstDash val="solid"/>
          </a:ln>
        </p:spPr>
      </p:cxnSp>
      <p:sp>
        <p:nvSpPr>
          <p:cNvPr id="10" name="ai-tag-1">
            <a:extLst xmlns:a="http://schemas.openxmlformats.org/drawingml/2006/main">
              <a:ext uri="{FF2B5EF4-FFF2-40B4-BE49-F238E27FC236}">
                <a16:creationId xmlns:a16="http://schemas.microsoft.com/office/drawing/2014/main" id="{4C8053F9-BBD8-4B27-BC74-2FB33FE7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11" name="ai-title-1">
            <a:extLst xmlns:a="http://schemas.openxmlformats.org/drawingml/2006/main">
              <a:ext uri="{FF2B5EF4-FFF2-40B4-BE49-F238E27FC236}">
                <a16:creationId xmlns:a16="http://schemas.microsoft.com/office/drawing/2014/main" id="{7F8B837B-DBA6-4C4C-8C9C-2656DB1E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432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Ask Sentinel copilot</a:t>
            </a:r>
          </a:p>
        </p:txBody>
      </p:sp>
      <p:sp>
        <p:nvSpPr>
          <p:cNvPr id="12" name="ai-body-1">
            <a:extLst xmlns:a="http://schemas.openxmlformats.org/drawingml/2006/main">
              <a:ext uri="{FF2B5EF4-FFF2-40B4-BE49-F238E27FC236}">
                <a16:creationId xmlns:a16="http://schemas.microsoft.com/office/drawing/2014/main" id="{8A1268E5-6A3B-427B-A642-E29238D8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43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Uses bounded tool calling to filter current findings, activity, and identities; returns the underlying records with the answer.</a:t>
            </a:r>
          </a:p>
        </p:txBody>
      </p:sp>
      <p:cxnSp>
        <p:nvCxnSpPr>
          <p:cNvPr id="32" name="ai-top-rule-2"/>
          <p:cNvCxnSpPr/>
          <p:nvPr/>
        </p:nvCxnSpPr>
        <p:spPr>
          <a:xfrm xmlns:a="http://schemas.openxmlformats.org/drawingml/2006/main">
            <a:off x="7848600" y="20955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14" name="ai-tag-2">
            <a:extLst xmlns:a="http://schemas.openxmlformats.org/drawingml/2006/main">
              <a:ext uri="{FF2B5EF4-FFF2-40B4-BE49-F238E27FC236}">
                <a16:creationId xmlns:a16="http://schemas.microsoft.com/office/drawing/2014/main" id="{A9155A62-0BE3-4BDE-9A48-9162D0C1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15" name="ai-title-2">
            <a:extLst xmlns:a="http://schemas.openxmlformats.org/drawingml/2006/main">
              <a:ext uri="{FF2B5EF4-FFF2-40B4-BE49-F238E27FC236}">
                <a16:creationId xmlns:a16="http://schemas.microsoft.com/office/drawing/2014/main" id="{01A0C823-F6AD-430E-9A02-E04B1793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432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Report narratives</a:t>
            </a:r>
          </a:p>
        </p:txBody>
      </p:sp>
      <p:sp>
        <p:nvSpPr>
          <p:cNvPr id="16" name="ai-body-2">
            <a:extLst xmlns:a="http://schemas.openxmlformats.org/drawingml/2006/main">
              <a:ext uri="{FF2B5EF4-FFF2-40B4-BE49-F238E27FC236}">
                <a16:creationId xmlns:a16="http://schemas.microsoft.com/office/drawing/2014/main" id="{B00A0EF6-44AF-4C5D-B3E1-88371D51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Drafts a 3–5 sentence security narrative from current findings and event counts without inventing new data.</a:t>
            </a:r>
          </a:p>
        </p:txBody>
      </p:sp>
      <p:sp>
        <p:nvSpPr>
          <p:cNvPr id="17" name="ai-guardrail">
            <a:extLst xmlns:a="http://schemas.openxmlformats.org/drawingml/2006/main">
              <a:ext uri="{FF2B5EF4-FFF2-40B4-BE49-F238E27FC236}">
                <a16:creationId xmlns:a16="http://schemas.microsoft.com/office/drawing/2014/main" id="{ECA9B261-DEE0-4EF3-B9EA-2BD5C4D5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10591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18" name="ai-guardrail-title">
            <a:extLst xmlns:a="http://schemas.openxmlformats.org/drawingml/2006/main">
              <a:ext uri="{FF2B5EF4-FFF2-40B4-BE49-F238E27FC236}">
                <a16:creationId xmlns:a16="http://schemas.microsoft.com/office/drawing/2014/main" id="{9C48225E-829E-4804-9DFD-8D148BB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E0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E0C5"/>
                </a:solidFill>
                <a:latin typeface="Arial"/>
                <a:ea typeface="Arial"/>
                <a:cs typeface="Arial"/>
              </a:rPr>
              <a:t>DESIGNED NEXT · POLICY-FIRST RISK</a:t>
            </a:r>
          </a:p>
        </p:txBody>
      </p:sp>
      <p:sp>
        <p:nvSpPr>
          <p:cNvPr id="19" name="ai-guardrail-formula">
            <a:extLst xmlns:a="http://schemas.openxmlformats.org/drawingml/2006/main">
              <a:ext uri="{FF2B5EF4-FFF2-40B4-BE49-F238E27FC236}">
                <a16:creationId xmlns:a16="http://schemas.microsoft.com/office/drawing/2014/main" id="{791BD703-8D10-455A-AE86-19714A56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438775"/>
            <a:ext cx="687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score = deterministic policy score + validated AI adjustment, with severity floors applied last.</a:t>
            </a:r>
          </a:p>
        </p:txBody>
      </p:sp>
    </p:spTree>
    <p:extLst>
      <p:ext uri="{BB962C8B-B14F-4D97-AF65-F5344CB8AC3E}">
        <p14:creationId xmlns:p14="http://schemas.microsoft.com/office/powerpoint/2010/main" val="531824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6">
            <a:extLst xmlns:a="http://schemas.openxmlformats.org/drawingml/2006/main">
              <a:ext uri="{FF2B5EF4-FFF2-40B4-BE49-F238E27FC236}">
                <a16:creationId xmlns:a16="http://schemas.microsoft.com/office/drawing/2014/main" id="{EDE8B39B-FC17-42B8-AAAC-C64794C9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INNOVATION &amp; CREATIVITY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A05F734-75A7-4795-A0E0-9F616B25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Innovation connects evidence directly to action</a:t>
            </a:r>
          </a:p>
        </p:txBody>
      </p:sp>
      <p:cxnSp>
        <p:nvCxnSpPr>
          <p:cNvPr id="23" name="header-rule-6"/>
          <p:cNvCxnSpPr/>
          <p:nvPr/>
        </p:nvCxnSpPr>
        <p:spPr>
          <a:xfrm xmlns:a="http://schemas.openxmlformats.org/drawingml/2006/main">
            <a:off x="533400" y="14859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9CDE7B39-7A96-4B2E-A880-754B5EC5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25" name="innov-rule-01"/>
          <p:cNvCxnSpPr/>
          <p:nvPr/>
        </p:nvCxnSpPr>
        <p:spPr>
          <a:xfrm xmlns:a="http://schemas.openxmlformats.org/drawingml/2006/main">
            <a:off x="533400" y="207645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E0C5"/>
            </a:solidFill>
            <a:prstDash val="solid"/>
          </a:ln>
        </p:spPr>
      </p:cxnSp>
      <p:sp>
        <p:nvSpPr>
          <p:cNvPr id="6" name="innov-num-01">
            <a:extLst xmlns:a="http://schemas.openxmlformats.org/drawingml/2006/main">
              <a:ext uri="{FF2B5EF4-FFF2-40B4-BE49-F238E27FC236}">
                <a16:creationId xmlns:a16="http://schemas.microsoft.com/office/drawing/2014/main" id="{03BF113B-3CEC-4EC8-95C7-61FA9A44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innov-title-01">
            <a:extLst xmlns:a="http://schemas.openxmlformats.org/drawingml/2006/main">
              <a:ext uri="{FF2B5EF4-FFF2-40B4-BE49-F238E27FC236}">
                <a16:creationId xmlns:a16="http://schemas.microsoft.com/office/drawing/2014/main" id="{512AD51E-1AE1-4341-849C-007122EE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66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Evidence before alarm</a:t>
            </a:r>
          </a:p>
        </p:txBody>
      </p:sp>
      <p:sp>
        <p:nvSpPr>
          <p:cNvPr id="8" name="innov-body-01">
            <a:extLst xmlns:a="http://schemas.openxmlformats.org/drawingml/2006/main">
              <a:ext uri="{FF2B5EF4-FFF2-40B4-BE49-F238E27FC236}">
                <a16:creationId xmlns:a16="http://schemas.microsoft.com/office/drawing/2014/main" id="{2257CF8E-FBDE-43E7-AB67-6CDD3348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003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The dossier starts with the causal story, evidence chips, expected baseline, and a recommended action.</a:t>
            </a:r>
          </a:p>
        </p:txBody>
      </p:sp>
      <p:cxnSp>
        <p:nvCxnSpPr>
          <p:cNvPr id="29" name="innov-rule-02"/>
          <p:cNvCxnSpPr/>
          <p:nvPr/>
        </p:nvCxnSpPr>
        <p:spPr>
          <a:xfrm xmlns:a="http://schemas.openxmlformats.org/drawingml/2006/main">
            <a:off x="6191250" y="207645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innov-num-02">
            <a:extLst xmlns:a="http://schemas.openxmlformats.org/drawingml/2006/main">
              <a:ext uri="{FF2B5EF4-FFF2-40B4-BE49-F238E27FC236}">
                <a16:creationId xmlns:a16="http://schemas.microsoft.com/office/drawing/2014/main" id="{18EFA76E-9819-426F-AB54-02501F4A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innov-title-02">
            <a:extLst xmlns:a="http://schemas.openxmlformats.org/drawingml/2006/main">
              <a:ext uri="{FF2B5EF4-FFF2-40B4-BE49-F238E27FC236}">
                <a16:creationId xmlns:a16="http://schemas.microsoft.com/office/drawing/2014/main" id="{F0471F87-FE3C-4F42-873B-83DF6EFD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66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Constrained intelligence</a:t>
            </a:r>
          </a:p>
        </p:txBody>
      </p:sp>
      <p:sp>
        <p:nvSpPr>
          <p:cNvPr id="12" name="innov-body-02">
            <a:extLst xmlns:a="http://schemas.openxmlformats.org/drawingml/2006/main">
              <a:ext uri="{FF2B5EF4-FFF2-40B4-BE49-F238E27FC236}">
                <a16:creationId xmlns:a16="http://schemas.microsoft.com/office/drawing/2014/main" id="{537C4722-6B7B-4BCA-8EBD-60226809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003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AI explains and searches; deterministic controls, validation, fallbacks, and evidence IDs protect the decision.</a:t>
            </a:r>
          </a:p>
        </p:txBody>
      </p:sp>
      <p:cxnSp>
        <p:nvCxnSpPr>
          <p:cNvPr id="33" name="innov-rule-03"/>
          <p:cNvCxnSpPr/>
          <p:nvPr/>
        </p:nvCxnSpPr>
        <p:spPr>
          <a:xfrm xmlns:a="http://schemas.openxmlformats.org/drawingml/2006/main">
            <a:off x="533400" y="411480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innov-num-03">
            <a:extLst xmlns:a="http://schemas.openxmlformats.org/drawingml/2006/main">
              <a:ext uri="{FF2B5EF4-FFF2-40B4-BE49-F238E27FC236}">
                <a16:creationId xmlns:a16="http://schemas.microsoft.com/office/drawing/2014/main" id="{C8C8D25A-F824-4711-9B66-8A34F39E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innov-title-03">
            <a:extLst xmlns:a="http://schemas.openxmlformats.org/drawingml/2006/main">
              <a:ext uri="{FF2B5EF4-FFF2-40B4-BE49-F238E27FC236}">
                <a16:creationId xmlns:a16="http://schemas.microsoft.com/office/drawing/2014/main" id="{AD8ABA53-907F-49D1-B6E7-AD7E9A91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053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Signal Room language</a:t>
            </a:r>
          </a:p>
        </p:txBody>
      </p:sp>
      <p:sp>
        <p:nvSpPr>
          <p:cNvPr id="16" name="innov-body-03">
            <a:extLst xmlns:a="http://schemas.openxmlformats.org/drawingml/2006/main">
              <a:ext uri="{FF2B5EF4-FFF2-40B4-BE49-F238E27FC236}">
                <a16:creationId xmlns:a16="http://schemas.microsoft.com/office/drawing/2014/main" id="{5BE462B3-D883-4365-9C15-93AA1ABC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387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 calm intelligence-console design uses Signal Teal, segmented risk traces, and operational verbs—not cyberpunk noise.</a:t>
            </a:r>
          </a:p>
        </p:txBody>
      </p:sp>
      <p:cxnSp>
        <p:nvCxnSpPr>
          <p:cNvPr id="37" name="innov-rule-04"/>
          <p:cNvCxnSpPr/>
          <p:nvPr/>
        </p:nvCxnSpPr>
        <p:spPr>
          <a:xfrm xmlns:a="http://schemas.openxmlformats.org/drawingml/2006/main">
            <a:off x="6191250" y="411480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innov-num-04">
            <a:extLst xmlns:a="http://schemas.openxmlformats.org/drawingml/2006/main">
              <a:ext uri="{FF2B5EF4-FFF2-40B4-BE49-F238E27FC236}">
                <a16:creationId xmlns:a16="http://schemas.microsoft.com/office/drawing/2014/main" id="{466F3BFF-0316-40D1-BDD8-AF4D369C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innov-title-04">
            <a:extLst xmlns:a="http://schemas.openxmlformats.org/drawingml/2006/main">
              <a:ext uri="{FF2B5EF4-FFF2-40B4-BE49-F238E27FC236}">
                <a16:creationId xmlns:a16="http://schemas.microsoft.com/office/drawing/2014/main" id="{A5683190-F0BD-4834-8A42-22CE4BD8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053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Demo-safe realism</a:t>
            </a:r>
          </a:p>
        </p:txBody>
      </p:sp>
      <p:sp>
        <p:nvSpPr>
          <p:cNvPr id="20" name="innov-body-04">
            <a:extLst xmlns:a="http://schemas.openxmlformats.org/drawingml/2006/main">
              <a:ext uri="{FF2B5EF4-FFF2-40B4-BE49-F238E27FC236}">
                <a16:creationId xmlns:a16="http://schemas.microsoft.com/office/drawing/2014/main" id="{628028FC-85C6-40AF-BB7C-5C683544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387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Synthetic telemetry, anomaly simulation, provider-shaped fixtures, and separate test oracles enable a credible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35502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7">
            <a:extLst xmlns:a="http://schemas.openxmlformats.org/drawingml/2006/main">
              <a:ext uri="{FF2B5EF4-FFF2-40B4-BE49-F238E27FC236}">
                <a16:creationId xmlns:a16="http://schemas.microsoft.com/office/drawing/2014/main" id="{F8CB16FD-90B2-413C-A2BA-51AB1D66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SCALABILITY FOR FUTURE EXPANSION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F19B58C9-A474-4CBF-BD89-3DB37537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Scale by replacing adapters—not the workflow</a:t>
            </a:r>
          </a:p>
        </p:txBody>
      </p:sp>
      <p:cxnSp>
        <p:nvCxnSpPr>
          <p:cNvPr id="21" name="header-rule-7"/>
          <p:cNvCxnSpPr/>
          <p:nvPr/>
        </p:nvCxnSpPr>
        <p:spPr>
          <a:xfrm xmlns:a="http://schemas.openxmlformats.org/drawingml/2006/main">
            <a:off x="533400" y="14859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914DB36F-3D47-47B1-9CF5-6458CC06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3" name="scale-line"/>
          <p:cNvCxnSpPr/>
          <p:nvPr/>
        </p:nvCxnSpPr>
        <p:spPr>
          <a:xfrm xmlns:a="http://schemas.openxmlformats.org/drawingml/2006/main">
            <a:off x="990600" y="323850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220"/>
            </a:solidFill>
            <a:prstDash val="solid"/>
          </a:ln>
        </p:spPr>
      </p:cxnSp>
      <p:sp>
        <p:nvSpPr>
          <p:cNvPr id="6" name="scale-dot-0">
            <a:extLst xmlns:a="http://schemas.openxmlformats.org/drawingml/2006/main">
              <a:ext uri="{FF2B5EF4-FFF2-40B4-BE49-F238E27FC236}">
                <a16:creationId xmlns:a16="http://schemas.microsoft.com/office/drawing/2014/main" id="{495E4FA6-8393-4713-8AFE-725AB486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sp>
        <p:nvSpPr>
          <p:cNvPr id="7" name="scale-dot-1">
            <a:extLst xmlns:a="http://schemas.openxmlformats.org/drawingml/2006/main">
              <a:ext uri="{FF2B5EF4-FFF2-40B4-BE49-F238E27FC236}">
                <a16:creationId xmlns:a16="http://schemas.microsoft.com/office/drawing/2014/main" id="{C1936641-8F79-4764-BADA-05595CCE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8" name="scale-dot-2">
            <a:extLst xmlns:a="http://schemas.openxmlformats.org/drawingml/2006/main">
              <a:ext uri="{FF2B5EF4-FFF2-40B4-BE49-F238E27FC236}">
                <a16:creationId xmlns:a16="http://schemas.microsoft.com/office/drawing/2014/main" id="{34EBC618-87A3-4995-83EE-6FDD638D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9" name="scale-now-label">
            <a:extLst xmlns:a="http://schemas.openxmlformats.org/drawingml/2006/main">
              <a:ext uri="{FF2B5EF4-FFF2-40B4-BE49-F238E27FC236}">
                <a16:creationId xmlns:a16="http://schemas.microsoft.com/office/drawing/2014/main" id="{E9AD8BB5-81A4-4706-86D6-6D7808A1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NOW · HACKATHON MVP</a:t>
            </a:r>
          </a:p>
        </p:txBody>
      </p:sp>
      <p:sp>
        <p:nvSpPr>
          <p:cNvPr id="10" name="scale-next-label">
            <a:extLst xmlns:a="http://schemas.openxmlformats.org/drawingml/2006/main">
              <a:ext uri="{FF2B5EF4-FFF2-40B4-BE49-F238E27FC236}">
                <a16:creationId xmlns:a16="http://schemas.microsoft.com/office/drawing/2014/main" id="{9215D5E7-F08C-43F8-BA1F-5D884C30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4"/>
                </a:solidFill>
                <a:latin typeface="Arial"/>
                <a:ea typeface="Arial"/>
                <a:cs typeface="Arial"/>
              </a:rPr>
              <a:t>NEXT · TRUSTED DATA</a:t>
            </a:r>
          </a:p>
        </p:txBody>
      </p:sp>
      <p:sp>
        <p:nvSpPr>
          <p:cNvPr id="11" name="scale-prod-label">
            <a:extLst xmlns:a="http://schemas.openxmlformats.org/drawingml/2006/main">
              <a:ext uri="{FF2B5EF4-FFF2-40B4-BE49-F238E27FC236}">
                <a16:creationId xmlns:a16="http://schemas.microsoft.com/office/drawing/2014/main" id="{6DE2A923-2591-49D0-B670-7A8C931C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4"/>
                </a:solidFill>
                <a:latin typeface="Arial"/>
                <a:ea typeface="Arial"/>
                <a:cs typeface="Arial"/>
              </a:rPr>
              <a:t>SCALE · PRODUCTION</a:t>
            </a:r>
          </a:p>
        </p:txBody>
      </p:sp>
      <p:sp>
        <p:nvSpPr>
          <p:cNvPr id="12" name="scale-now-title">
            <a:extLst xmlns:a="http://schemas.openxmlformats.org/drawingml/2006/main">
              <a:ext uri="{FF2B5EF4-FFF2-40B4-BE49-F238E27FC236}">
                <a16:creationId xmlns:a16="http://schemas.microsoft.com/office/drawing/2014/main" id="{D72251A8-5CE3-40DD-8548-0584AEF7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Single-process foundation</a:t>
            </a:r>
          </a:p>
        </p:txBody>
      </p:sp>
      <p:sp>
        <p:nvSpPr>
          <p:cNvPr id="13" name="scale-now-body">
            <a:extLst xmlns:a="http://schemas.openxmlformats.org/drawingml/2006/main">
              <a:ext uri="{FF2B5EF4-FFF2-40B4-BE49-F238E27FC236}">
                <a16:creationId xmlns:a16="http://schemas.microsoft.com/office/drawing/2014/main" id="{A3440CC5-264E-4A06-AF12-DD37F2B4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React/Vite + FastAPI</a:t>
            </a:r>
          </a:p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SQLite-backed store</a:t>
            </a:r>
          </a:p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liteLLM AI features</a:t>
            </a:r>
          </a:p>
        </p:txBody>
      </p:sp>
      <p:sp>
        <p:nvSpPr>
          <p:cNvPr id="14" name="scale-next-title">
            <a:extLst xmlns:a="http://schemas.openxmlformats.org/drawingml/2006/main">
              <a:ext uri="{FF2B5EF4-FFF2-40B4-BE49-F238E27FC236}">
                <a16:creationId xmlns:a16="http://schemas.microsoft.com/office/drawing/2014/main" id="{73017715-A193-4ADC-8A40-51162C89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57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Raw-first multi-cloud</a:t>
            </a:r>
          </a:p>
        </p:txBody>
      </p:sp>
      <p:sp>
        <p:nvSpPr>
          <p:cNvPr id="15" name="scale-next-body">
            <a:extLst xmlns:a="http://schemas.openxmlformats.org/drawingml/2006/main">
              <a:ext uri="{FF2B5EF4-FFF2-40B4-BE49-F238E27FC236}">
                <a16:creationId xmlns:a16="http://schemas.microsoft.com/office/drawing/2014/main" id="{3ECDCDAA-81CB-4324-8382-F1CC6205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57700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AWS, Azure, GCP adapters</a:t>
            </a:r>
          </a:p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Immutable raw archive</a:t>
            </a:r>
          </a:p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Versioned normalization + replay</a:t>
            </a:r>
          </a:p>
        </p:txBody>
      </p:sp>
      <p:sp>
        <p:nvSpPr>
          <p:cNvPr id="16" name="scale-prod-title">
            <a:extLst xmlns:a="http://schemas.openxmlformats.org/drawingml/2006/main">
              <a:ext uri="{FF2B5EF4-FFF2-40B4-BE49-F238E27FC236}">
                <a16:creationId xmlns:a16="http://schemas.microsoft.com/office/drawing/2014/main" id="{4B8306A5-70FF-4130-A675-2E29CF7A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576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Durable operating model</a:t>
            </a:r>
          </a:p>
        </p:txBody>
      </p:sp>
      <p:sp>
        <p:nvSpPr>
          <p:cNvPr id="17" name="scale-prod-body">
            <a:extLst xmlns:a="http://schemas.openxmlformats.org/drawingml/2006/main">
              <a:ext uri="{FF2B5EF4-FFF2-40B4-BE49-F238E27FC236}">
                <a16:creationId xmlns:a16="http://schemas.microsoft.com/office/drawing/2014/main" id="{3F7439D4-B450-4F29-9A43-371F3AB2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Object storage + workers</a:t>
            </a:r>
          </a:p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Durable database</a:t>
            </a:r>
          </a:p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Auth, tenancy, retention, observability</a:t>
            </a:r>
          </a:p>
        </p:txBody>
      </p:sp>
      <p:sp>
        <p:nvSpPr>
          <p:cNvPr id="18" name="scale-principle">
            <a:extLst xmlns:a="http://schemas.openxmlformats.org/drawingml/2006/main">
              <a:ext uri="{FF2B5EF4-FFF2-40B4-BE49-F238E27FC236}">
                <a16:creationId xmlns:a16="http://schemas.microsoft.com/office/drawing/2014/main" id="{A5498082-3F6F-4F20-8D4B-1AA58F3A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864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Stable contracts preserve the same evidence dossier, policy trace, and analyst experience as infrastructure evolves.</a:t>
            </a:r>
          </a:p>
        </p:txBody>
      </p:sp>
    </p:spTree>
    <p:extLst>
      <p:ext uri="{BB962C8B-B14F-4D97-AF65-F5344CB8AC3E}">
        <p14:creationId xmlns:p14="http://schemas.microsoft.com/office/powerpoint/2010/main" val="13942439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3E16C457-292C-4C6A-8DF2-95947157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WHY SENTINEL ACCESS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0D319EA-FC60-4026-B1E1-0F809DA4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7620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From noisy access logs</a:t>
            </a:r>
          </a:p>
          <a:p xmlns:a="http://schemas.openxmlformats.org/drawingml/2006/main">
            <a:pPr algn="l">
              <a:defRPr sz="5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to explainable action.</a:t>
            </a:r>
          </a:p>
        </p:txBody>
      </p:sp>
      <p:cxnSp>
        <p:nvCxnSpPr>
          <p:cNvPr id="14" name="close-main-rule"/>
          <p:cNvCxnSpPr/>
          <p:nvPr/>
        </p:nvCxnSpPr>
        <p:spPr>
          <a:xfrm xmlns:a="http://schemas.openxmlformats.org/drawingml/2006/main">
            <a:off x="533400" y="35052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close-tag-0">
            <a:extLst xmlns:a="http://schemas.openxmlformats.org/drawingml/2006/main">
              <a:ext uri="{FF2B5EF4-FFF2-40B4-BE49-F238E27FC236}">
                <a16:creationId xmlns:a16="http://schemas.microsoft.com/office/drawing/2014/main" id="{C00C5616-F75A-43DB-86B0-A0039FCF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BUILT</a:t>
            </a:r>
          </a:p>
        </p:txBody>
      </p:sp>
      <p:sp>
        <p:nvSpPr>
          <p:cNvPr id="5" name="close-copy-0">
            <a:extLst xmlns:a="http://schemas.openxmlformats.org/drawingml/2006/main">
              <a:ext uri="{FF2B5EF4-FFF2-40B4-BE49-F238E27FC236}">
                <a16:creationId xmlns:a16="http://schemas.microsoft.com/office/drawing/2014/main" id="{10971E05-3EB3-4851-888B-1D9BC806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862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 working analyst experience with FastAPI, SQLite, AI explanations, copilot search, and narrative reports.</a:t>
            </a:r>
          </a:p>
        </p:txBody>
      </p:sp>
      <p:sp>
        <p:nvSpPr>
          <p:cNvPr id="6" name="close-tag-1">
            <a:extLst xmlns:a="http://schemas.openxmlformats.org/drawingml/2006/main">
              <a:ext uri="{FF2B5EF4-FFF2-40B4-BE49-F238E27FC236}">
                <a16:creationId xmlns:a16="http://schemas.microsoft.com/office/drawing/2014/main" id="{073DC83A-62F9-4849-AD87-B0F84486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TRUSTED</a:t>
            </a:r>
          </a:p>
        </p:txBody>
      </p:sp>
      <p:sp>
        <p:nvSpPr>
          <p:cNvPr id="7" name="close-copy-1">
            <a:extLst xmlns:a="http://schemas.openxmlformats.org/drawingml/2006/main">
              <a:ext uri="{FF2B5EF4-FFF2-40B4-BE49-F238E27FC236}">
                <a16:creationId xmlns:a16="http://schemas.microsoft.com/office/drawing/2014/main" id="{89D0C33E-B5C4-4FE8-8D91-3115EF39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672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 policy-first risk design that keeps AI bounded, validated, evidence-grounded, and fail-safe.</a:t>
            </a:r>
          </a:p>
        </p:txBody>
      </p:sp>
      <p:sp>
        <p:nvSpPr>
          <p:cNvPr id="8" name="close-tag-2">
            <a:extLst xmlns:a="http://schemas.openxmlformats.org/drawingml/2006/main">
              <a:ext uri="{FF2B5EF4-FFF2-40B4-BE49-F238E27FC236}">
                <a16:creationId xmlns:a16="http://schemas.microsoft.com/office/drawing/2014/main" id="{96CA6BF0-8263-4544-B5CC-8ADBF9F0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EXTENSIBLE</a:t>
            </a:r>
          </a:p>
        </p:txBody>
      </p:sp>
      <p:sp>
        <p:nvSpPr>
          <p:cNvPr id="9" name="close-copy-2">
            <a:extLst xmlns:a="http://schemas.openxmlformats.org/drawingml/2006/main">
              <a:ext uri="{FF2B5EF4-FFF2-40B4-BE49-F238E27FC236}">
                <a16:creationId xmlns:a16="http://schemas.microsoft.com/office/drawing/2014/main" id="{DC52E95A-50B3-47AC-AC70-BBB6D93F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4483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 raw-first three-cloud ingestion path that can grow behind stable contracts and adapter boundaries.</a:t>
            </a:r>
          </a:p>
        </p:txBody>
      </p:sp>
      <p:sp>
        <p:nvSpPr>
          <p:cNvPr id="10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6B31A2A3-DD46-49CF-8048-9E7B0F4E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838200"/>
            <a:ext cx="1581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sp>
        <p:nvSpPr>
          <p:cNvPr id="11" name="close-accent-text">
            <a:extLst xmlns:a="http://schemas.openxmlformats.org/drawingml/2006/main">
              <a:ext uri="{FF2B5EF4-FFF2-40B4-BE49-F238E27FC236}">
                <a16:creationId xmlns:a16="http://schemas.microsoft.com/office/drawing/2014/main" id="{4EBEA09E-D80C-40AE-B02D-90CC12F8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66800"/>
            <a:ext cx="1200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SIGNAL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→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1872350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2026-08-18T06:59:06.4610000Z</dcterms:created>
  <dcterms:modified xsi:type="dcterms:W3CDTF">2026-08-18T06:59:06.4620000Z</dcterms:modified>
</coreProperties>
</file>