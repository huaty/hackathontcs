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52373db9e424824" /><Relationship Type="http://schemas.openxmlformats.org/officeDocument/2006/relationships/extended-properties" Target="/docProps/app.xml" Id="R06a0aeb0b9654e47" /><Relationship Type="http://schemas.openxmlformats.org/officeDocument/2006/relationships/officeDocument" Target="/ppt/presentation.xml" Id="Rdfc0a2b01a38455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9fccdcdda194830"/>
  </p:sldMasterIdLst>
  <p:notesMasterIdLst>
    <p:notesMasterId xmlns:r="http://schemas.openxmlformats.org/officeDocument/2006/relationships" r:id="R6d6343489e214205"/>
  </p:notesMasterIdLst>
  <p:sldIdLst>
    <p:sldId xmlns:r="http://schemas.openxmlformats.org/officeDocument/2006/relationships" id="256" r:id="Racce1903ddc14b18"/>
    <p:sldId xmlns:r="http://schemas.openxmlformats.org/officeDocument/2006/relationships" id="257" r:id="Rb0ba939d001a4823"/>
    <p:sldId xmlns:r="http://schemas.openxmlformats.org/officeDocument/2006/relationships" id="258" r:id="R4957aa2d6dbd4e4b"/>
    <p:sldId xmlns:r="http://schemas.openxmlformats.org/officeDocument/2006/relationships" id="259" r:id="Rae2db03ddfb74483"/>
    <p:sldId xmlns:r="http://schemas.openxmlformats.org/officeDocument/2006/relationships" id="260" r:id="R0fc2692e76004462"/>
    <p:sldId xmlns:r="http://schemas.openxmlformats.org/officeDocument/2006/relationships" id="261" r:id="R927cd19ec2c64b25"/>
    <p:sldId xmlns:r="http://schemas.openxmlformats.org/officeDocument/2006/relationships" id="262" r:id="Rc318b164661d4f04"/>
    <p:sldId xmlns:r="http://schemas.openxmlformats.org/officeDocument/2006/relationships" id="263" r:id="Re13953d8088b4a9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86a5aff539f479e" /><Relationship Type="http://schemas.openxmlformats.org/officeDocument/2006/relationships/slideMaster" Target="/ppt/slideMasters/slideMaster1.xml" Id="R19fccdcdda194830" /><Relationship Type="http://schemas.openxmlformats.org/officeDocument/2006/relationships/notesMaster" Target="/ppt/notesMasters/notesMaster1.xml" Id="R6d6343489e214205" /><Relationship Type="http://schemas.openxmlformats.org/officeDocument/2006/relationships/presProps" Target="/ppt/presProps.xml" Id="R3b25a7cebfa74641" /><Relationship Type="http://schemas.openxmlformats.org/officeDocument/2006/relationships/tableStyles" Target="/ppt/tableStyles.xml" Id="Rc94bc0ca879e4864" /><Relationship Type="http://schemas.openxmlformats.org/officeDocument/2006/relationships/slide" Target="/ppt/slides/slide1.xml" Id="Racce1903ddc14b18" /><Relationship Type="http://schemas.openxmlformats.org/officeDocument/2006/relationships/slide" Target="/ppt/slides/slide2.xml" Id="Rb0ba939d001a4823" /><Relationship Type="http://schemas.openxmlformats.org/officeDocument/2006/relationships/slide" Target="/ppt/slides/slide3.xml" Id="R4957aa2d6dbd4e4b" /><Relationship Type="http://schemas.openxmlformats.org/officeDocument/2006/relationships/slide" Target="/ppt/slides/slide4.xml" Id="Rae2db03ddfb74483" /><Relationship Type="http://schemas.openxmlformats.org/officeDocument/2006/relationships/slide" Target="/ppt/slides/slide5.xml" Id="R0fc2692e76004462" /><Relationship Type="http://schemas.openxmlformats.org/officeDocument/2006/relationships/slide" Target="/ppt/slides/slide6.xml" Id="R927cd19ec2c64b25" /><Relationship Type="http://schemas.openxmlformats.org/officeDocument/2006/relationships/slide" Target="/ppt/slides/slide7.xml" Id="Rc318b164661d4f04" /><Relationship Type="http://schemas.openxmlformats.org/officeDocument/2006/relationships/slide" Target="/ppt/slides/slide8.xml" Id="Re13953d8088b4a9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12d15cdea3a421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59d1468048b436a" /><Relationship Type="http://schemas.openxmlformats.org/officeDocument/2006/relationships/notesMaster" Target="/ppt/notesMasters/notesMaster1.xml" Id="R99c35e55c4de4a6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3b8f5db62934a41" /><Relationship Type="http://schemas.openxmlformats.org/officeDocument/2006/relationships/notesMaster" Target="/ppt/notesMasters/notesMaster1.xml" Id="R8fb09954faf74c8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99bc02af35f4954" /><Relationship Type="http://schemas.openxmlformats.org/officeDocument/2006/relationships/notesMaster" Target="/ppt/notesMasters/notesMaster1.xml" Id="R3b3a0f0e86b541c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c2d83a6946c4f40" /><Relationship Type="http://schemas.openxmlformats.org/officeDocument/2006/relationships/notesMaster" Target="/ppt/notesMasters/notesMaster1.xml" Id="R230b3eb1202543e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85aba33b37945e7" /><Relationship Type="http://schemas.openxmlformats.org/officeDocument/2006/relationships/notesMaster" Target="/ppt/notesMasters/notesMaster1.xml" Id="R83058d7f97694c7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8bff03aada24de5" /><Relationship Type="http://schemas.openxmlformats.org/officeDocument/2006/relationships/notesMaster" Target="/ppt/notesMasters/notesMaster1.xml" Id="Rd05504122f534e0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ed918890a314346" /><Relationship Type="http://schemas.openxmlformats.org/officeDocument/2006/relationships/notesMaster" Target="/ppt/notesMasters/notesMaster1.xml" Id="R6d5d74cf16fc47e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40a04d541df4eeb" /><Relationship Type="http://schemas.openxmlformats.org/officeDocument/2006/relationships/notesMaster" Target="/ppt/notesMasters/notesMaster1.xml" Id="R66575f614ade479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sentinel-access/CONTEXT.md</a:t>
            </a:r>
          </a:p>
          <a:p xmlns:a="http://schemas.openxmlformats.org/drawingml/2006/main">
            <a:r>
              <a:t>- sentinel-access/ideas.md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sentinel-access/CONTEXT.md</a:t>
            </a:r>
          </a:p>
          <a:p xmlns:a="http://schemas.openxmlformats.org/drawingml/2006/main">
            <a:r>
              <a:t>- specs/004-contextual-risk-scoring/spec.md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sentinel-access/backend/app/routers/datasets.py</a:t>
            </a:r>
          </a:p>
          <a:p xmlns:a="http://schemas.openxmlformats.org/drawingml/2006/main">
            <a:r>
              <a:t>- sentinel-access/backend/app/routers/command_center.py</a:t>
            </a:r>
          </a:p>
          <a:p xmlns:a="http://schemas.openxmlformats.org/drawingml/2006/main">
            <a:r>
              <a:t>- specs/004-contextual-risk-scoring/spec.md</a:t>
            </a:r>
          </a:p>
          <a:p xmlns:a="http://schemas.openxmlformats.org/drawingml/2006/main">
            <a:r>
              <a:t>- specs/005-cloud-log-ingestion/plan.md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sentinel-access/package.json</a:t>
            </a:r>
          </a:p>
          <a:p xmlns:a="http://schemas.openxmlformats.org/drawingml/2006/main">
            <a:r>
              <a:t>- sentinel-access/backend/app/main.py</a:t>
            </a:r>
          </a:p>
          <a:p xmlns:a="http://schemas.openxmlformats.org/drawingml/2006/main">
            <a:r>
              <a:t>- sentinel-access/backend/app/db.py</a:t>
            </a:r>
          </a:p>
          <a:p xmlns:a="http://schemas.openxmlformats.org/drawingml/2006/main">
            <a:r>
              <a:t>- sentinel-access/backend/app/ai_client.py</a:t>
            </a:r>
          </a:p>
          <a:p xmlns:a="http://schemas.openxmlformats.org/drawingml/2006/main">
            <a:r>
              <a:t>- sentinel-access/client/src/lib/api.ts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sentinel-access/backend/app/routers/command_center.py</a:t>
            </a:r>
          </a:p>
          <a:p xmlns:a="http://schemas.openxmlformats.org/drawingml/2006/main">
            <a:r>
              <a:t>- sentinel-access/backend/app/routers/copilot.py</a:t>
            </a:r>
          </a:p>
          <a:p xmlns:a="http://schemas.openxmlformats.org/drawingml/2006/main">
            <a:r>
              <a:t>- sentinel-access/backend/app/routers/reports.py</a:t>
            </a:r>
          </a:p>
          <a:p xmlns:a="http://schemas.openxmlformats.org/drawingml/2006/main">
            <a:r>
              <a:t>- specs/004-contextual-risk-scoring/spec.md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sentinel-access/ideas.md</a:t>
            </a:r>
          </a:p>
          <a:p xmlns:a="http://schemas.openxmlformats.org/drawingml/2006/main">
            <a:r>
              <a:t>- sentinel-access/CONTEXT.md</a:t>
            </a:r>
          </a:p>
          <a:p xmlns:a="http://schemas.openxmlformats.org/drawingml/2006/main">
            <a:r>
              <a:t>- specs/004-contextual-risk-scoring/spec.md</a:t>
            </a:r>
          </a:p>
          <a:p xmlns:a="http://schemas.openxmlformats.org/drawingml/2006/main">
            <a:r>
              <a:t>- specs/005-cloud-log-ingestion/spec.md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specs/005-cloud-log-ingestion/plan.md</a:t>
            </a:r>
          </a:p>
          <a:p xmlns:a="http://schemas.openxmlformats.org/drawingml/2006/main">
            <a:r>
              <a:t>- specs/004-contextual-risk-scoring/plan.md</a:t>
            </a:r>
          </a:p>
          <a:p xmlns:a="http://schemas.openxmlformats.org/drawingml/2006/main">
            <a:r>
              <a:t>- specs/003-sqlite-storage/plan.md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sentinel-access/backend/app/main.py</a:t>
            </a:r>
          </a:p>
          <a:p xmlns:a="http://schemas.openxmlformats.org/drawingml/2006/main">
            <a:r>
              <a:t>- sentinel-access/backend/app/routers/copilot.py</a:t>
            </a:r>
          </a:p>
          <a:p xmlns:a="http://schemas.openxmlformats.org/drawingml/2006/main">
            <a:r>
              <a:t>- specs/004-contextual-risk-scoring/spec.md</a:t>
            </a:r>
          </a:p>
          <a:p xmlns:a="http://schemas.openxmlformats.org/drawingml/2006/main">
            <a:r>
              <a:t>- specs/005-cloud-log-ingestion/plan.md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20afa156260431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2f7100350944485" /><Relationship Type="http://schemas.openxmlformats.org/officeDocument/2006/relationships/slideLayout" Target="/ppt/slideLayouts/slideLayout1.xml" Id="R8081f80712db4a8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081f80712db4a8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5c9caa583542de" /><Relationship Type="http://schemas.openxmlformats.org/officeDocument/2006/relationships/notesSlide" Target="/ppt/notesSlides/notesSlide1.xml" Id="Recff9098ec764b1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0c1fa2bb264d55" /><Relationship Type="http://schemas.openxmlformats.org/officeDocument/2006/relationships/notesSlide" Target="/ppt/notesSlides/notesSlide2.xml" Id="R767629fbe4e14c3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81c01a56a94ca4" /><Relationship Type="http://schemas.openxmlformats.org/officeDocument/2006/relationships/notesSlide" Target="/ppt/notesSlides/notesSlide3.xml" Id="R8dd7791eb8b3477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0e28cdf55d41de" /><Relationship Type="http://schemas.openxmlformats.org/officeDocument/2006/relationships/notesSlide" Target="/ppt/notesSlides/notesSlide4.xml" Id="Rb6cb8b267ee745c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6fd2263d634fd7" /><Relationship Type="http://schemas.openxmlformats.org/officeDocument/2006/relationships/notesSlide" Target="/ppt/notesSlides/notesSlide5.xml" Id="R118588f17d574dd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dc4675d9d146d5" /><Relationship Type="http://schemas.openxmlformats.org/officeDocument/2006/relationships/notesSlide" Target="/ppt/notesSlides/notesSlide6.xml" Id="R46da9402af0c49b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e183fa8d484181" /><Relationship Type="http://schemas.openxmlformats.org/officeDocument/2006/relationships/notesSlide" Target="/ppt/notesSlides/notesSlide7.xml" Id="R4d6569a09715428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01cf14cc5449cd" /><Relationship Type="http://schemas.openxmlformats.org/officeDocument/2006/relationships/notesSlide" Target="/ppt/notesSlides/notesSlide8.xml" Id="R73d28807bb6f49d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50F7E064-E292-4E3D-886C-E3E7F989D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7D7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7D70"/>
                </a:solidFill>
                <a:latin typeface="Arial"/>
                <a:ea typeface="Arial"/>
                <a:cs typeface="Arial"/>
              </a:rPr>
              <a:t>HACKATHON PROJECT · CLOUD ACCESS SECURITY</a:t>
            </a:r>
          </a:p>
        </p:txBody>
      </p:sp>
      <p:sp>
        <p:nvSpPr>
          <p:cNvPr id="2" name="cover-signal">
            <a:extLst xmlns:a="http://schemas.openxmlformats.org/drawingml/2006/main">
              <a:ext uri="{FF2B5EF4-FFF2-40B4-BE49-F238E27FC236}">
                <a16:creationId xmlns:a16="http://schemas.microsoft.com/office/drawing/2014/main" id="{E05EF68E-7541-4E81-BFE2-B7A161623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95400"/>
            <a:ext cx="171450" cy="3200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E0C5"/>
          </a:solidFill>
          <a:ln xmlns:a="http://schemas.openxmlformats.org/drawingml/2006/main" w="0">
            <a:solidFill>
              <a:srgbClr val="39E0C5"/>
            </a:solidFill>
            <a:prstDash val="solid"/>
          </a:ln>
        </p:spPr>
      </p:sp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762FBFFC-28B6-4BDC-9917-1A7A5A997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200150"/>
            <a:ext cx="6191250" cy="2419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615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615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Sentinel</a:t>
            </a:r>
          </a:p>
          <a:p xmlns:a="http://schemas.openxmlformats.org/drawingml/2006/main">
            <a:pPr algn="l">
              <a:defRPr sz="615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615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Access</a:t>
            </a:r>
          </a:p>
        </p:txBody>
      </p:sp>
      <p:sp>
        <p:nvSpPr>
          <p:cNvPr id="4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1C0A9115-768E-4099-9BC7-D0D3B56EE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943350"/>
            <a:ext cx="63817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596574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596574"/>
                </a:solidFill>
                <a:latin typeface="Arial"/>
                <a:ea typeface="Arial"/>
                <a:cs typeface="Arial"/>
              </a:rPr>
              <a:t>Explainable cloud-access decisions</a:t>
            </a:r>
          </a:p>
          <a:p xmlns:a="http://schemas.openxmlformats.org/drawingml/2006/main">
            <a:pPr algn="l">
              <a:defRPr sz="2400" b="0">
                <a:solidFill>
                  <a:srgbClr val="596574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596574"/>
                </a:solidFill>
                <a:latin typeface="Arial"/>
                <a:ea typeface="Arial"/>
                <a:cs typeface="Arial"/>
              </a:rPr>
              <a:t>for lean security teams</a:t>
            </a:r>
          </a:p>
        </p:txBody>
      </p:sp>
      <p:cxnSp>
        <p:nvCxnSpPr>
          <p:cNvPr id="14" name="cover-rule"/>
          <p:cNvCxnSpPr/>
          <p:nvPr/>
        </p:nvCxnSpPr>
        <p:spPr>
          <a:xfrm xmlns:a="http://schemas.openxmlformats.org/drawingml/2006/main">
            <a:off x="7810500" y="1200150"/>
            <a:ext cx="3390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B1220"/>
            </a:solidFill>
            <a:prstDash val="solid"/>
          </a:ln>
        </p:spPr>
      </p:cxnSp>
      <p:sp>
        <p:nvSpPr>
          <p:cNvPr id="6" name="cover-principle-1">
            <a:extLst xmlns:a="http://schemas.openxmlformats.org/drawingml/2006/main">
              <a:ext uri="{FF2B5EF4-FFF2-40B4-BE49-F238E27FC236}">
                <a16:creationId xmlns:a16="http://schemas.microsoft.com/office/drawing/2014/main" id="{885F6F3E-3321-4F0D-BF02-8C98FBEA3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504950"/>
            <a:ext cx="3390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7D7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7D70"/>
                </a:solidFill>
                <a:latin typeface="Arial"/>
                <a:ea typeface="Arial"/>
                <a:cs typeface="Arial"/>
              </a:rPr>
              <a:t>SIGNAL</a:t>
            </a:r>
          </a:p>
        </p:txBody>
      </p:sp>
      <p:sp>
        <p:nvSpPr>
          <p:cNvPr id="7" name="cover-principle-2">
            <a:extLst xmlns:a="http://schemas.openxmlformats.org/drawingml/2006/main">
              <a:ext uri="{FF2B5EF4-FFF2-40B4-BE49-F238E27FC236}">
                <a16:creationId xmlns:a16="http://schemas.microsoft.com/office/drawing/2014/main" id="{5B19CCFC-A5E6-45A6-8D66-686B336AB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571750"/>
            <a:ext cx="3390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7D7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7D70"/>
                </a:solidFill>
                <a:latin typeface="Arial"/>
                <a:ea typeface="Arial"/>
                <a:cs typeface="Arial"/>
              </a:rPr>
              <a:t>EVIDENCE</a:t>
            </a:r>
          </a:p>
        </p:txBody>
      </p:sp>
      <p:sp>
        <p:nvSpPr>
          <p:cNvPr id="8" name="cover-principle-3">
            <a:extLst xmlns:a="http://schemas.openxmlformats.org/drawingml/2006/main">
              <a:ext uri="{FF2B5EF4-FFF2-40B4-BE49-F238E27FC236}">
                <a16:creationId xmlns:a16="http://schemas.microsoft.com/office/drawing/2014/main" id="{C79FD41D-6FC3-41CF-9460-AB97F8AE8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638550"/>
            <a:ext cx="3390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7D7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7D70"/>
                </a:solidFill>
                <a:latin typeface="Arial"/>
                <a:ea typeface="Arial"/>
                <a:cs typeface="Arial"/>
              </a:rPr>
              <a:t>ACTION</a:t>
            </a:r>
          </a:p>
        </p:txBody>
      </p:sp>
      <p:sp>
        <p:nvSpPr>
          <p:cNvPr id="9" name="cover-description">
            <a:extLst xmlns:a="http://schemas.openxmlformats.org/drawingml/2006/main">
              <a:ext uri="{FF2B5EF4-FFF2-40B4-BE49-F238E27FC236}">
                <a16:creationId xmlns:a16="http://schemas.microsoft.com/office/drawing/2014/main" id="{86B16FDC-B439-486C-9B36-2544A2D50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286250"/>
            <a:ext cx="33909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9657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96574"/>
                </a:solidFill>
                <a:latin typeface="Arial"/>
                <a:ea typeface="Arial"/>
                <a:cs typeface="Arial"/>
              </a:rPr>
              <a:t>Noisy activity is reduced into prioritized findings, plain-language rationale, and an auditable path to action.</a:t>
            </a:r>
          </a:p>
        </p:txBody>
      </p:sp>
    </p:spTree>
    <p:extLst>
      <p:ext uri="{BB962C8B-B14F-4D97-AF65-F5344CB8AC3E}">
        <p14:creationId xmlns:p14="http://schemas.microsoft.com/office/powerpoint/2010/main" val="162444297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eyebrow-2">
            <a:extLst xmlns:a="http://schemas.openxmlformats.org/drawingml/2006/main">
              <a:ext uri="{FF2B5EF4-FFF2-40B4-BE49-F238E27FC236}">
                <a16:creationId xmlns:a16="http://schemas.microsoft.com/office/drawing/2014/main" id="{A5E9BCB8-3161-40DC-8FF7-C369A045B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7D7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7D70"/>
                </a:solidFill>
                <a:latin typeface="Arial"/>
                <a:ea typeface="Arial"/>
                <a:cs typeface="Arial"/>
              </a:rPr>
              <a:t>PROBLEM STATEMENT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F6E83AD1-5CFB-4E6D-9147-AA00304DD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11125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Cloud access produces alerts—not decisions</a:t>
            </a:r>
          </a:p>
        </p:txBody>
      </p:sp>
      <p:cxnSp>
        <p:nvCxnSpPr>
          <p:cNvPr id="21" name="header-rule-2"/>
          <p:cNvCxnSpPr/>
          <p:nvPr/>
        </p:nvCxnSpPr>
        <p:spPr>
          <a:xfrm xmlns:a="http://schemas.openxmlformats.org/drawingml/2006/main">
            <a:off x="533400" y="1485900"/>
            <a:ext cx="111252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B1220"/>
            </a:solidFill>
            <a:prstDash val="solid"/>
          </a:ln>
        </p:spPr>
      </p:cxnSp>
      <p:sp>
        <p:nvSpPr>
          <p:cNvPr id="4" name="page-2">
            <a:extLst xmlns:a="http://schemas.openxmlformats.org/drawingml/2006/main">
              <a:ext uri="{FF2B5EF4-FFF2-40B4-BE49-F238E27FC236}">
                <a16:creationId xmlns:a16="http://schemas.microsoft.com/office/drawing/2014/main" id="{64811CBB-6ACB-4D70-AC05-BAC511179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9657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9657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problem-thesis">
            <a:extLst xmlns:a="http://schemas.openxmlformats.org/drawingml/2006/main">
              <a:ext uri="{FF2B5EF4-FFF2-40B4-BE49-F238E27FC236}">
                <a16:creationId xmlns:a16="http://schemas.microsoft.com/office/drawing/2014/main" id="{39958C4E-2F44-46F3-A97E-A137D8603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62150"/>
            <a:ext cx="5334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Security teams have signals.</a:t>
            </a:r>
          </a:p>
          <a:p xmlns:a="http://schemas.openxmlformats.org/drawingml/2006/main">
            <a:pPr algn="l">
              <a:defRPr sz="32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What they need is</a:t>
            </a:r>
          </a:p>
          <a:p xmlns:a="http://schemas.openxmlformats.org/drawingml/2006/main">
            <a:pPr algn="l">
              <a:defRPr sz="32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decision-ready context.</a:t>
            </a:r>
          </a:p>
        </p:txBody>
      </p:sp>
      <p:sp>
        <p:nvSpPr>
          <p:cNvPr id="6" name="problem-support">
            <a:extLst xmlns:a="http://schemas.openxmlformats.org/drawingml/2006/main">
              <a:ext uri="{FF2B5EF4-FFF2-40B4-BE49-F238E27FC236}">
                <a16:creationId xmlns:a16="http://schemas.microsoft.com/office/drawing/2014/main" id="{4DAA468E-9F13-4F1B-B197-AE13514B0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0"/>
            <a:ext cx="49530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9657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96574"/>
                </a:solidFill>
                <a:latin typeface="Arial"/>
                <a:ea typeface="Arial"/>
                <a:cs typeface="Arial"/>
              </a:rPr>
              <a:t>A lean team must connect identity, baseline behavior, cloud action, and business impact before it can explain what matters and act confidently.</a:t>
            </a:r>
          </a:p>
        </p:txBody>
      </p:sp>
      <p:cxnSp>
        <p:nvCxnSpPr>
          <p:cNvPr id="25" name="problem-rule-0"/>
          <p:cNvCxnSpPr/>
          <p:nvPr/>
        </p:nvCxnSpPr>
        <p:spPr>
          <a:xfrm xmlns:a="http://schemas.openxmlformats.org/drawingml/2006/main">
            <a:off x="6419850" y="1790700"/>
            <a:ext cx="52387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39E0C5"/>
            </a:solidFill>
            <a:prstDash val="solid"/>
          </a:ln>
        </p:spPr>
      </p:cxnSp>
      <p:sp>
        <p:nvSpPr>
          <p:cNvPr id="8" name="problem-num-0">
            <a:extLst xmlns:a="http://schemas.openxmlformats.org/drawingml/2006/main">
              <a:ext uri="{FF2B5EF4-FFF2-40B4-BE49-F238E27FC236}">
                <a16:creationId xmlns:a16="http://schemas.microsoft.com/office/drawing/2014/main" id="{8FE369B4-31DD-44CA-9F90-D4F5AC32D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962150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7D7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7D7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9" name="problem-title-0">
            <a:extLst xmlns:a="http://schemas.openxmlformats.org/drawingml/2006/main">
              <a:ext uri="{FF2B5EF4-FFF2-40B4-BE49-F238E27FC236}">
                <a16:creationId xmlns:a16="http://schemas.microsoft.com/office/drawing/2014/main" id="{C5F85E40-EDE8-4E0C-9CB6-C023C0BB5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96215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Fragmented telemetry</a:t>
            </a:r>
          </a:p>
        </p:txBody>
      </p:sp>
      <p:sp>
        <p:nvSpPr>
          <p:cNvPr id="10" name="problem-body-0">
            <a:extLst xmlns:a="http://schemas.openxmlformats.org/drawingml/2006/main">
              <a:ext uri="{FF2B5EF4-FFF2-40B4-BE49-F238E27FC236}">
                <a16:creationId xmlns:a16="http://schemas.microsoft.com/office/drawing/2014/main" id="{890B4751-98A3-4650-8DC9-5C8E3CE06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400300"/>
            <a:ext cx="4191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13" b="0">
                <a:solidFill>
                  <a:srgbClr val="596574"/>
                </a:solidFill>
                <a:latin typeface="Arial"/>
                <a:ea typeface="Arial"/>
                <a:cs typeface="Arial"/>
              </a:defRPr>
            </a:pPr>
            <a:r>
              <a:rPr sz="1613" b="0">
                <a:solidFill>
                  <a:srgbClr val="596574"/>
                </a:solidFill>
                <a:latin typeface="Arial"/>
                <a:ea typeface="Arial"/>
                <a:cs typeface="Arial"/>
              </a:rPr>
              <a:t>Cloud and identity events arrive in different shapes and lose their lineage.</a:t>
            </a:r>
          </a:p>
        </p:txBody>
      </p:sp>
      <p:cxnSp>
        <p:nvCxnSpPr>
          <p:cNvPr id="29" name="problem-rule-1"/>
          <p:cNvCxnSpPr/>
          <p:nvPr/>
        </p:nvCxnSpPr>
        <p:spPr>
          <a:xfrm xmlns:a="http://schemas.openxmlformats.org/drawingml/2006/main">
            <a:off x="6419850" y="3086100"/>
            <a:ext cx="52387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2" name="problem-num-1">
            <a:extLst xmlns:a="http://schemas.openxmlformats.org/drawingml/2006/main">
              <a:ext uri="{FF2B5EF4-FFF2-40B4-BE49-F238E27FC236}">
                <a16:creationId xmlns:a16="http://schemas.microsoft.com/office/drawing/2014/main" id="{6EC6A2F2-800C-4940-93F6-FB507C79D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257550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7D7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7D7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3" name="problem-title-1">
            <a:extLst xmlns:a="http://schemas.openxmlformats.org/drawingml/2006/main">
              <a:ext uri="{FF2B5EF4-FFF2-40B4-BE49-F238E27FC236}">
                <a16:creationId xmlns:a16="http://schemas.microsoft.com/office/drawing/2014/main" id="{9F1000E7-2A77-4869-B734-DAE6F2D9A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25755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Opaque prioritization</a:t>
            </a:r>
          </a:p>
        </p:txBody>
      </p:sp>
      <p:sp>
        <p:nvSpPr>
          <p:cNvPr id="14" name="problem-body-1">
            <a:extLst xmlns:a="http://schemas.openxmlformats.org/drawingml/2006/main">
              <a:ext uri="{FF2B5EF4-FFF2-40B4-BE49-F238E27FC236}">
                <a16:creationId xmlns:a16="http://schemas.microsoft.com/office/drawing/2014/main" id="{5600F31F-E06C-4AFC-9B67-2A117C3D7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695700"/>
            <a:ext cx="4191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13" b="0">
                <a:solidFill>
                  <a:srgbClr val="596574"/>
                </a:solidFill>
                <a:latin typeface="Arial"/>
                <a:ea typeface="Arial"/>
                <a:cs typeface="Arial"/>
              </a:defRPr>
            </a:pPr>
            <a:r>
              <a:rPr sz="1613" b="0">
                <a:solidFill>
                  <a:srgbClr val="596574"/>
                </a:solidFill>
                <a:latin typeface="Arial"/>
                <a:ea typeface="Arial"/>
                <a:cs typeface="Arial"/>
              </a:rPr>
              <a:t>A score without matched evidence is difficult to trust, defend, or tune.</a:t>
            </a:r>
          </a:p>
        </p:txBody>
      </p:sp>
      <p:cxnSp>
        <p:nvCxnSpPr>
          <p:cNvPr id="33" name="problem-rule-2"/>
          <p:cNvCxnSpPr/>
          <p:nvPr/>
        </p:nvCxnSpPr>
        <p:spPr>
          <a:xfrm xmlns:a="http://schemas.openxmlformats.org/drawingml/2006/main">
            <a:off x="6419850" y="4381500"/>
            <a:ext cx="52387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6" name="problem-num-2">
            <a:extLst xmlns:a="http://schemas.openxmlformats.org/drawingml/2006/main">
              <a:ext uri="{FF2B5EF4-FFF2-40B4-BE49-F238E27FC236}">
                <a16:creationId xmlns:a16="http://schemas.microsoft.com/office/drawing/2014/main" id="{5AFAEA4B-A1E7-4B8E-8076-36493AA77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552950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7D7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7D7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7" name="problem-title-2">
            <a:extLst xmlns:a="http://schemas.openxmlformats.org/drawingml/2006/main">
              <a:ext uri="{FF2B5EF4-FFF2-40B4-BE49-F238E27FC236}">
                <a16:creationId xmlns:a16="http://schemas.microsoft.com/office/drawing/2014/main" id="{ECCD208A-270C-4843-A147-15C85E4CD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55295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Slow investigation</a:t>
            </a:r>
          </a:p>
        </p:txBody>
      </p:sp>
      <p:sp>
        <p:nvSpPr>
          <p:cNvPr id="18" name="problem-body-2">
            <a:extLst xmlns:a="http://schemas.openxmlformats.org/drawingml/2006/main">
              <a:ext uri="{FF2B5EF4-FFF2-40B4-BE49-F238E27FC236}">
                <a16:creationId xmlns:a16="http://schemas.microsoft.com/office/drawing/2014/main" id="{788BB8AE-70B9-4348-80C5-98E1EE384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991100"/>
            <a:ext cx="4191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13" b="0">
                <a:solidFill>
                  <a:srgbClr val="596574"/>
                </a:solidFill>
                <a:latin typeface="Arial"/>
                <a:ea typeface="Arial"/>
                <a:cs typeface="Arial"/>
              </a:defRPr>
            </a:pPr>
            <a:r>
              <a:rPr sz="1613" b="0">
                <a:solidFill>
                  <a:srgbClr val="596574"/>
                </a:solidFill>
                <a:latin typeface="Arial"/>
                <a:ea typeface="Arial"/>
                <a:cs typeface="Arial"/>
              </a:rPr>
              <a:t>Analysts jump between filters, raw logs, and reports before choosing an action.</a:t>
            </a:r>
          </a:p>
        </p:txBody>
      </p:sp>
    </p:spTree>
    <p:extLst>
      <p:ext uri="{BB962C8B-B14F-4D97-AF65-F5344CB8AC3E}">
        <p14:creationId xmlns:p14="http://schemas.microsoft.com/office/powerpoint/2010/main" val="204381001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eyebrow-3">
            <a:extLst xmlns:a="http://schemas.openxmlformats.org/drawingml/2006/main">
              <a:ext uri="{FF2B5EF4-FFF2-40B4-BE49-F238E27FC236}">
                <a16:creationId xmlns:a16="http://schemas.microsoft.com/office/drawing/2014/main" id="{E3FEC4C1-A82E-48C2-B8C2-58D8CF966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7D7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7D70"/>
                </a:solidFill>
                <a:latin typeface="Arial"/>
                <a:ea typeface="Arial"/>
                <a:cs typeface="Arial"/>
              </a:rPr>
              <a:t>APPROACH &amp; SOLUTION ARCHITECTURE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6507971B-2D2E-473A-95AD-76833367D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11125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Our approach makes every decision traceable</a:t>
            </a:r>
          </a:p>
        </p:txBody>
      </p:sp>
      <p:cxnSp>
        <p:nvCxnSpPr>
          <p:cNvPr id="29" name="header-rule-3"/>
          <p:cNvCxnSpPr/>
          <p:nvPr/>
        </p:nvCxnSpPr>
        <p:spPr>
          <a:xfrm xmlns:a="http://schemas.openxmlformats.org/drawingml/2006/main">
            <a:off x="533400" y="1485900"/>
            <a:ext cx="111252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B1220"/>
            </a:solidFill>
            <a:prstDash val="solid"/>
          </a:ln>
        </p:spPr>
      </p:cxnSp>
      <p:sp>
        <p:nvSpPr>
          <p:cNvPr id="4" name="page-3">
            <a:extLst xmlns:a="http://schemas.openxmlformats.org/drawingml/2006/main">
              <a:ext uri="{FF2B5EF4-FFF2-40B4-BE49-F238E27FC236}">
                <a16:creationId xmlns:a16="http://schemas.microsoft.com/office/drawing/2014/main" id="{21D382DE-5F1F-41D8-A716-DA5A7680A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9657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96574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cxnSp>
        <p:nvCxnSpPr>
          <p:cNvPr id="31" name="solution-link-0"/>
          <p:cNvCxnSpPr/>
          <p:nvPr/>
        </p:nvCxnSpPr>
        <p:spPr>
          <a:xfrm xmlns:a="http://schemas.openxmlformats.org/drawingml/2006/main">
            <a:off x="2876550" y="3352800"/>
            <a:ext cx="4953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B7D70"/>
            </a:solidFill>
            <a:prstDash val="solid"/>
          </a:ln>
        </p:spPr>
      </p:cxnSp>
      <p:sp>
        <p:nvSpPr>
          <p:cNvPr id="6" name="solution-chevron-0">
            <a:extLst xmlns:a="http://schemas.openxmlformats.org/drawingml/2006/main">
              <a:ext uri="{FF2B5EF4-FFF2-40B4-BE49-F238E27FC236}">
                <a16:creationId xmlns:a16="http://schemas.microsoft.com/office/drawing/2014/main" id="{D4032E1C-2FCD-48FD-B63E-264CAA32E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257550"/>
            <a:ext cx="190500" cy="1905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39E0C5"/>
          </a:solidFill>
          <a:ln xmlns:a="http://schemas.openxmlformats.org/drawingml/2006/main" w="0">
            <a:solidFill>
              <a:srgbClr val="39E0C5"/>
            </a:solidFill>
            <a:prstDash val="solid"/>
          </a:ln>
        </p:spPr>
      </p:sp>
      <p:cxnSp>
        <p:nvCxnSpPr>
          <p:cNvPr id="33" name="solution-link-1"/>
          <p:cNvCxnSpPr/>
          <p:nvPr/>
        </p:nvCxnSpPr>
        <p:spPr>
          <a:xfrm xmlns:a="http://schemas.openxmlformats.org/drawingml/2006/main">
            <a:off x="5715000" y="3352800"/>
            <a:ext cx="4953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B7D70"/>
            </a:solidFill>
            <a:prstDash val="solid"/>
          </a:ln>
        </p:spPr>
      </p:cxnSp>
      <p:sp>
        <p:nvSpPr>
          <p:cNvPr id="8" name="solution-chevron-1">
            <a:extLst xmlns:a="http://schemas.openxmlformats.org/drawingml/2006/main">
              <a:ext uri="{FF2B5EF4-FFF2-40B4-BE49-F238E27FC236}">
                <a16:creationId xmlns:a16="http://schemas.microsoft.com/office/drawing/2014/main" id="{30B8FED4-F736-4338-B93B-BB307F8BA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257550"/>
            <a:ext cx="190500" cy="1905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39E0C5"/>
          </a:solidFill>
          <a:ln xmlns:a="http://schemas.openxmlformats.org/drawingml/2006/main" w="0">
            <a:solidFill>
              <a:srgbClr val="39E0C5"/>
            </a:solidFill>
            <a:prstDash val="solid"/>
          </a:ln>
        </p:spPr>
      </p:sp>
      <p:cxnSp>
        <p:nvCxnSpPr>
          <p:cNvPr id="35" name="solution-link-2"/>
          <p:cNvCxnSpPr/>
          <p:nvPr/>
        </p:nvCxnSpPr>
        <p:spPr>
          <a:xfrm xmlns:a="http://schemas.openxmlformats.org/drawingml/2006/main">
            <a:off x="8553450" y="3352800"/>
            <a:ext cx="4953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B7D70"/>
            </a:solidFill>
            <a:prstDash val="solid"/>
          </a:ln>
        </p:spPr>
      </p:cxnSp>
      <p:sp>
        <p:nvSpPr>
          <p:cNvPr id="10" name="solution-chevron-2">
            <a:extLst xmlns:a="http://schemas.openxmlformats.org/drawingml/2006/main">
              <a:ext uri="{FF2B5EF4-FFF2-40B4-BE49-F238E27FC236}">
                <a16:creationId xmlns:a16="http://schemas.microsoft.com/office/drawing/2014/main" id="{F04C56BD-3BD2-439B-B416-E1F8AD00A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257550"/>
            <a:ext cx="190500" cy="1905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39E0C5"/>
          </a:solidFill>
          <a:ln xmlns:a="http://schemas.openxmlformats.org/drawingml/2006/main" w="0">
            <a:solidFill>
              <a:srgbClr val="39E0C5"/>
            </a:solidFill>
            <a:prstDash val="solid"/>
          </a:ln>
        </p:spPr>
      </p:sp>
      <p:sp>
        <p:nvSpPr>
          <p:cNvPr id="11" name="solution-1-box">
            <a:extLst xmlns:a="http://schemas.openxmlformats.org/drawingml/2006/main">
              <a:ext uri="{FF2B5EF4-FFF2-40B4-BE49-F238E27FC236}">
                <a16:creationId xmlns:a16="http://schemas.microsoft.com/office/drawing/2014/main" id="{E674AAA9-E2D5-4249-B860-AA2B5DA5A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47900"/>
            <a:ext cx="2343150" cy="2209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3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solution-1-title">
            <a:extLst xmlns:a="http://schemas.openxmlformats.org/drawingml/2006/main">
              <a:ext uri="{FF2B5EF4-FFF2-40B4-BE49-F238E27FC236}">
                <a16:creationId xmlns:a16="http://schemas.microsoft.com/office/drawing/2014/main" id="{1EF982BA-2FF7-4651-B4E0-7ED8CE565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38400"/>
            <a:ext cx="1924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1 · Ingest</a:t>
            </a:r>
          </a:p>
        </p:txBody>
      </p:sp>
      <p:sp>
        <p:nvSpPr>
          <p:cNvPr id="13" name="solution-1-body">
            <a:extLst xmlns:a="http://schemas.openxmlformats.org/drawingml/2006/main">
              <a:ext uri="{FF2B5EF4-FFF2-40B4-BE49-F238E27FC236}">
                <a16:creationId xmlns:a16="http://schemas.microsoft.com/office/drawing/2014/main" id="{EB6E34ED-E018-413F-818E-DBC5C7AE9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33700"/>
            <a:ext cx="192405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13" b="0">
                <a:solidFill>
                  <a:srgbClr val="596574"/>
                </a:solidFill>
                <a:latin typeface="Arial"/>
                <a:ea typeface="Arial"/>
                <a:cs typeface="Arial"/>
              </a:defRPr>
            </a:pPr>
            <a:r>
              <a:rPr sz="1613" b="0">
                <a:solidFill>
                  <a:srgbClr val="596574"/>
                </a:solidFill>
                <a:latin typeface="Arial"/>
                <a:ea typeface="Arial"/>
                <a:cs typeface="Arial"/>
              </a:rPr>
              <a:t>CSV/JSON import today; provider-native cloud logs next.</a:t>
            </a:r>
          </a:p>
        </p:txBody>
      </p:sp>
      <p:sp>
        <p:nvSpPr>
          <p:cNvPr id="14" name="solution-2-box">
            <a:extLst xmlns:a="http://schemas.openxmlformats.org/drawingml/2006/main">
              <a:ext uri="{FF2B5EF4-FFF2-40B4-BE49-F238E27FC236}">
                <a16:creationId xmlns:a16="http://schemas.microsoft.com/office/drawing/2014/main" id="{F729B8E5-1177-4BEA-99DC-6FAA323B1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247900"/>
            <a:ext cx="2343150" cy="2209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3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solution-2-title">
            <a:extLst xmlns:a="http://schemas.openxmlformats.org/drawingml/2006/main">
              <a:ext uri="{FF2B5EF4-FFF2-40B4-BE49-F238E27FC236}">
                <a16:creationId xmlns:a16="http://schemas.microsoft.com/office/drawing/2014/main" id="{B86C0E97-CD09-4CF6-8D0E-E67381DC3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438400"/>
            <a:ext cx="1924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2 · Context</a:t>
            </a:r>
          </a:p>
        </p:txBody>
      </p:sp>
      <p:sp>
        <p:nvSpPr>
          <p:cNvPr id="16" name="solution-2-body">
            <a:extLst xmlns:a="http://schemas.openxmlformats.org/drawingml/2006/main">
              <a:ext uri="{FF2B5EF4-FFF2-40B4-BE49-F238E27FC236}">
                <a16:creationId xmlns:a16="http://schemas.microsoft.com/office/drawing/2014/main" id="{A2C7DA85-B2C3-4626-B9C2-820679482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933700"/>
            <a:ext cx="192405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13" b="0">
                <a:solidFill>
                  <a:srgbClr val="596574"/>
                </a:solidFill>
                <a:latin typeface="Arial"/>
                <a:ea typeface="Arial"/>
                <a:cs typeface="Arial"/>
              </a:defRPr>
            </a:pPr>
            <a:r>
              <a:rPr sz="1613" b="0">
                <a:solidFill>
                  <a:srgbClr val="596574"/>
                </a:solidFill>
                <a:latin typeface="Arial"/>
                <a:ea typeface="Arial"/>
                <a:cs typeface="Arial"/>
              </a:rPr>
              <a:t>SQLite-backed activity, identities, evidence, and baselines.</a:t>
            </a:r>
          </a:p>
        </p:txBody>
      </p:sp>
      <p:sp>
        <p:nvSpPr>
          <p:cNvPr id="17" name="solution-3-box">
            <a:extLst xmlns:a="http://schemas.openxmlformats.org/drawingml/2006/main">
              <a:ext uri="{FF2B5EF4-FFF2-40B4-BE49-F238E27FC236}">
                <a16:creationId xmlns:a16="http://schemas.microsoft.com/office/drawing/2014/main" id="{F07BE0E1-E044-4543-B513-80563620F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247900"/>
            <a:ext cx="2343150" cy="2209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B7D70"/>
            </a:solidFill>
            <a:prstDash val="dash"/>
          </a:ln>
        </p:spPr>
      </p:sp>
      <p:sp>
        <p:nvSpPr>
          <p:cNvPr id="18" name="solution-3-title">
            <a:extLst xmlns:a="http://schemas.openxmlformats.org/drawingml/2006/main">
              <a:ext uri="{FF2B5EF4-FFF2-40B4-BE49-F238E27FC236}">
                <a16:creationId xmlns:a16="http://schemas.microsoft.com/office/drawing/2014/main" id="{C2872832-A227-462B-B3D1-E6EBC0419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438400"/>
            <a:ext cx="1924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3 · Decide</a:t>
            </a:r>
          </a:p>
        </p:txBody>
      </p:sp>
      <p:sp>
        <p:nvSpPr>
          <p:cNvPr id="19" name="solution-3-body">
            <a:extLst xmlns:a="http://schemas.openxmlformats.org/drawingml/2006/main">
              <a:ext uri="{FF2B5EF4-FFF2-40B4-BE49-F238E27FC236}">
                <a16:creationId xmlns:a16="http://schemas.microsoft.com/office/drawing/2014/main" id="{ED1D0978-8064-4F00-B6BB-C3EE9D077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933700"/>
            <a:ext cx="192405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13" b="0">
                <a:solidFill>
                  <a:srgbClr val="596574"/>
                </a:solidFill>
                <a:latin typeface="Arial"/>
                <a:ea typeface="Arial"/>
                <a:cs typeface="Arial"/>
              </a:defRPr>
            </a:pPr>
            <a:r>
              <a:rPr sz="1613" b="0">
                <a:solidFill>
                  <a:srgbClr val="596574"/>
                </a:solidFill>
                <a:latin typeface="Arial"/>
                <a:ea typeface="Arial"/>
                <a:cs typeface="Arial"/>
              </a:rPr>
              <a:t>Transparent rules plus a bounded AI contextual adjustment.</a:t>
            </a:r>
          </a:p>
        </p:txBody>
      </p:sp>
      <p:sp>
        <p:nvSpPr>
          <p:cNvPr id="20" name="solution-4-box">
            <a:extLst xmlns:a="http://schemas.openxmlformats.org/drawingml/2006/main">
              <a:ext uri="{FF2B5EF4-FFF2-40B4-BE49-F238E27FC236}">
                <a16:creationId xmlns:a16="http://schemas.microsoft.com/office/drawing/2014/main" id="{F2835F16-072C-474C-B4CF-8D572BD96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247900"/>
            <a:ext cx="2343150" cy="2209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3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1" name="solution-4-title">
            <a:extLst xmlns:a="http://schemas.openxmlformats.org/drawingml/2006/main">
              <a:ext uri="{FF2B5EF4-FFF2-40B4-BE49-F238E27FC236}">
                <a16:creationId xmlns:a16="http://schemas.microsoft.com/office/drawing/2014/main" id="{9A8C589A-0FA1-479D-B9B4-A02D6277A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438400"/>
            <a:ext cx="1924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4 · Act</a:t>
            </a:r>
          </a:p>
        </p:txBody>
      </p:sp>
      <p:sp>
        <p:nvSpPr>
          <p:cNvPr id="22" name="solution-4-body">
            <a:extLst xmlns:a="http://schemas.openxmlformats.org/drawingml/2006/main">
              <a:ext uri="{FF2B5EF4-FFF2-40B4-BE49-F238E27FC236}">
                <a16:creationId xmlns:a16="http://schemas.microsoft.com/office/drawing/2014/main" id="{B629356B-9BA1-4C6A-B122-6EE15A1C7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933700"/>
            <a:ext cx="192405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13" b="0">
                <a:solidFill>
                  <a:srgbClr val="596574"/>
                </a:solidFill>
                <a:latin typeface="Arial"/>
                <a:ea typeface="Arial"/>
                <a:cs typeface="Arial"/>
              </a:defRPr>
            </a:pPr>
            <a:r>
              <a:rPr sz="1613" b="0">
                <a:solidFill>
                  <a:srgbClr val="596574"/>
                </a:solidFill>
                <a:latin typeface="Arial"/>
                <a:ea typeface="Arial"/>
                <a:cs typeface="Arial"/>
              </a:rPr>
              <a:t>Command Center, evidence dossier, copilot, and reports.</a:t>
            </a:r>
          </a:p>
        </p:txBody>
      </p:sp>
      <p:sp>
        <p:nvSpPr>
          <p:cNvPr id="23" name="solution-mvp">
            <a:extLst xmlns:a="http://schemas.openxmlformats.org/drawingml/2006/main">
              <a:ext uri="{FF2B5EF4-FFF2-40B4-BE49-F238E27FC236}">
                <a16:creationId xmlns:a16="http://schemas.microsoft.com/office/drawing/2014/main" id="{A161B8E0-4DDB-4E2C-849C-7FAD8F6CB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7D7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B7D70"/>
                </a:solidFill>
                <a:latin typeface="Arial"/>
                <a:ea typeface="Arial"/>
                <a:cs typeface="Arial"/>
              </a:rPr>
              <a:t>SOLID = MVP CAPABILITY</a:t>
            </a:r>
          </a:p>
        </p:txBody>
      </p:sp>
      <p:sp>
        <p:nvSpPr>
          <p:cNvPr id="24" name="solution-roadmap">
            <a:extLst xmlns:a="http://schemas.openxmlformats.org/drawingml/2006/main">
              <a:ext uri="{FF2B5EF4-FFF2-40B4-BE49-F238E27FC236}">
                <a16:creationId xmlns:a16="http://schemas.microsoft.com/office/drawing/2014/main" id="{9BE15128-3A02-4894-AB08-088C4F6DF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76250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9657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96574"/>
                </a:solidFill>
                <a:latin typeface="Arial"/>
                <a:ea typeface="Arial"/>
                <a:cs typeface="Arial"/>
              </a:rPr>
              <a:t>DASHED = DESIGNED EXPANSION</a:t>
            </a:r>
          </a:p>
        </p:txBody>
      </p:sp>
      <p:sp>
        <p:nvSpPr>
          <p:cNvPr id="25" name="solution-outcome-box">
            <a:extLst xmlns:a="http://schemas.openxmlformats.org/drawingml/2006/main">
              <a:ext uri="{FF2B5EF4-FFF2-40B4-BE49-F238E27FC236}">
                <a16:creationId xmlns:a16="http://schemas.microsoft.com/office/drawing/2014/main" id="{213EA533-D067-48E7-8D96-5DFD2DE2D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14950"/>
            <a:ext cx="10858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F8F2"/>
          </a:solidFill>
          <a:ln xmlns:a="http://schemas.openxmlformats.org/drawingml/2006/main" w="9525">
            <a:solidFill>
              <a:srgbClr val="39E0C5"/>
            </a:solidFill>
            <a:prstDash val="solid"/>
          </a:ln>
        </p:spPr>
      </p:sp>
      <p:sp>
        <p:nvSpPr>
          <p:cNvPr id="26" name="solution-outcome">
            <a:extLst xmlns:a="http://schemas.openxmlformats.org/drawingml/2006/main">
              <a:ext uri="{FF2B5EF4-FFF2-40B4-BE49-F238E27FC236}">
                <a16:creationId xmlns:a16="http://schemas.microsoft.com/office/drawing/2014/main" id="{6D14D8E7-2E7C-487C-9B4A-472427042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05450"/>
            <a:ext cx="10363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7D7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7D70"/>
                </a:solidFill>
                <a:latin typeface="Arial"/>
                <a:ea typeface="Arial"/>
                <a:cs typeface="Arial"/>
              </a:rPr>
              <a:t>Outcome: analysts see what happened, why it matters, the evidence, and the next action.</a:t>
            </a:r>
          </a:p>
        </p:txBody>
      </p:sp>
    </p:spTree>
    <p:extLst>
      <p:ext uri="{BB962C8B-B14F-4D97-AF65-F5344CB8AC3E}">
        <p14:creationId xmlns:p14="http://schemas.microsoft.com/office/powerpoint/2010/main" val="37707318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eyebrow-4">
            <a:extLst xmlns:a="http://schemas.openxmlformats.org/drawingml/2006/main">
              <a:ext uri="{FF2B5EF4-FFF2-40B4-BE49-F238E27FC236}">
                <a16:creationId xmlns:a16="http://schemas.microsoft.com/office/drawing/2014/main" id="{38943396-A58B-4B32-8029-14CDDAE06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7D7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7D70"/>
                </a:solidFill>
                <a:latin typeface="Arial"/>
                <a:ea typeface="Arial"/>
                <a:cs typeface="Arial"/>
              </a:rPr>
              <a:t>HIGH-LEVEL TECHNICAL ARCHITECTURE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4C9B4A8F-8D87-4E71-BD94-61A354BD2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11125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The MVP is modular from interface to intelligence</a:t>
            </a:r>
          </a:p>
        </p:txBody>
      </p:sp>
      <p:cxnSp>
        <p:nvCxnSpPr>
          <p:cNvPr id="39" name="header-rule-4"/>
          <p:cNvCxnSpPr/>
          <p:nvPr/>
        </p:nvCxnSpPr>
        <p:spPr>
          <a:xfrm xmlns:a="http://schemas.openxmlformats.org/drawingml/2006/main">
            <a:off x="533400" y="1485900"/>
            <a:ext cx="111252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B1220"/>
            </a:solidFill>
            <a:prstDash val="solid"/>
          </a:ln>
        </p:spPr>
      </p:cxnSp>
      <p:sp>
        <p:nvSpPr>
          <p:cNvPr id="4" name="page-4">
            <a:extLst xmlns:a="http://schemas.openxmlformats.org/drawingml/2006/main">
              <a:ext uri="{FF2B5EF4-FFF2-40B4-BE49-F238E27FC236}">
                <a16:creationId xmlns:a16="http://schemas.microsoft.com/office/drawing/2014/main" id="{EB9BAC54-286E-45D6-A5A4-230E11E1C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9657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96574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cxnSp>
        <p:nvCxnSpPr>
          <p:cNvPr id="41" name="tech-link-0"/>
          <p:cNvCxnSpPr/>
          <p:nvPr/>
        </p:nvCxnSpPr>
        <p:spPr>
          <a:xfrm xmlns:a="http://schemas.openxmlformats.org/drawingml/2006/main">
            <a:off x="2800350" y="3276600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B7D70"/>
            </a:solidFill>
            <a:prstDash val="solid"/>
          </a:ln>
        </p:spPr>
      </p:cxnSp>
      <p:sp>
        <p:nvSpPr>
          <p:cNvPr id="6" name="tech-chevron-0">
            <a:extLst xmlns:a="http://schemas.openxmlformats.org/drawingml/2006/main">
              <a:ext uri="{FF2B5EF4-FFF2-40B4-BE49-F238E27FC236}">
                <a16:creationId xmlns:a16="http://schemas.microsoft.com/office/drawing/2014/main" id="{F0D918D3-F80F-4B8B-B214-C14B3A593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181350"/>
            <a:ext cx="171450" cy="1714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39E0C5"/>
          </a:solidFill>
          <a:ln xmlns:a="http://schemas.openxmlformats.org/drawingml/2006/main" w="0">
            <a:solidFill>
              <a:srgbClr val="39E0C5"/>
            </a:solidFill>
            <a:prstDash val="solid"/>
          </a:ln>
        </p:spPr>
      </p:sp>
      <p:cxnSp>
        <p:nvCxnSpPr>
          <p:cNvPr id="43" name="tech-link-1"/>
          <p:cNvCxnSpPr/>
          <p:nvPr/>
        </p:nvCxnSpPr>
        <p:spPr>
          <a:xfrm xmlns:a="http://schemas.openxmlformats.org/drawingml/2006/main">
            <a:off x="5734050" y="3276600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B7D70"/>
            </a:solidFill>
            <a:prstDash val="solid"/>
          </a:ln>
        </p:spPr>
      </p:cxnSp>
      <p:sp>
        <p:nvSpPr>
          <p:cNvPr id="8" name="tech-chevron-1">
            <a:extLst xmlns:a="http://schemas.openxmlformats.org/drawingml/2006/main">
              <a:ext uri="{FF2B5EF4-FFF2-40B4-BE49-F238E27FC236}">
                <a16:creationId xmlns:a16="http://schemas.microsoft.com/office/drawing/2014/main" id="{60CB0AF9-2AD5-4CF2-8D37-D976E141C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181350"/>
            <a:ext cx="171450" cy="1714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39E0C5"/>
          </a:solidFill>
          <a:ln xmlns:a="http://schemas.openxmlformats.org/drawingml/2006/main" w="0">
            <a:solidFill>
              <a:srgbClr val="39E0C5"/>
            </a:solidFill>
            <a:prstDash val="solid"/>
          </a:ln>
        </p:spPr>
      </p:sp>
      <p:cxnSp>
        <p:nvCxnSpPr>
          <p:cNvPr id="45" name="tech-link-2"/>
          <p:cNvCxnSpPr/>
          <p:nvPr/>
        </p:nvCxnSpPr>
        <p:spPr>
          <a:xfrm xmlns:a="http://schemas.openxmlformats.org/drawingml/2006/main">
            <a:off x="8534400" y="3276600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B7D70"/>
            </a:solidFill>
            <a:prstDash val="solid"/>
          </a:ln>
        </p:spPr>
      </p:cxnSp>
      <p:sp>
        <p:nvSpPr>
          <p:cNvPr id="10" name="tech-chevron-2">
            <a:extLst xmlns:a="http://schemas.openxmlformats.org/drawingml/2006/main">
              <a:ext uri="{FF2B5EF4-FFF2-40B4-BE49-F238E27FC236}">
                <a16:creationId xmlns:a16="http://schemas.microsoft.com/office/drawing/2014/main" id="{337FF9EE-6EFE-483B-8934-14CEA5F7C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181350"/>
            <a:ext cx="171450" cy="1714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39E0C5"/>
          </a:solidFill>
          <a:ln xmlns:a="http://schemas.openxmlformats.org/drawingml/2006/main" w="0">
            <a:solidFill>
              <a:srgbClr val="39E0C5"/>
            </a:solidFill>
            <a:prstDash val="solid"/>
          </a:ln>
        </p:spPr>
      </p:sp>
      <p:cxnSp>
        <p:nvCxnSpPr>
          <p:cNvPr id="47" name="tech-planned-link"/>
          <p:cNvCxnSpPr/>
          <p:nvPr/>
        </p:nvCxnSpPr>
        <p:spPr>
          <a:xfrm xmlns:a="http://schemas.openxmlformats.org/drawingml/2006/main">
            <a:off x="1657350" y="4171950"/>
            <a:ext cx="0" cy="4381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B7D70"/>
            </a:solidFill>
            <a:prstDash val="dash"/>
          </a:ln>
        </p:spPr>
      </p:cxnSp>
      <p:sp>
        <p:nvSpPr>
          <p:cNvPr id="12" name="tech-col-1-title">
            <a:extLst xmlns:a="http://schemas.openxmlformats.org/drawingml/2006/main">
              <a:ext uri="{FF2B5EF4-FFF2-40B4-BE49-F238E27FC236}">
                <a16:creationId xmlns:a16="http://schemas.microsoft.com/office/drawing/2014/main" id="{083DA096-4DBB-4342-BB90-1C17EA5FF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43100"/>
            <a:ext cx="2266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7D7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7D70"/>
                </a:solidFill>
                <a:latin typeface="Arial"/>
                <a:ea typeface="Arial"/>
                <a:cs typeface="Arial"/>
              </a:rPr>
              <a:t>TELEMETRY</a:t>
            </a:r>
          </a:p>
        </p:txBody>
      </p:sp>
      <p:sp>
        <p:nvSpPr>
          <p:cNvPr id="13" name="tech-upload">
            <a:extLst xmlns:a="http://schemas.openxmlformats.org/drawingml/2006/main">
              <a:ext uri="{FF2B5EF4-FFF2-40B4-BE49-F238E27FC236}">
                <a16:creationId xmlns:a16="http://schemas.microsoft.com/office/drawing/2014/main" id="{CA240D67-CC89-46AC-90A2-1DEAD7B04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0"/>
            <a:ext cx="226695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3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tech-upload-title">
            <a:extLst xmlns:a="http://schemas.openxmlformats.org/drawingml/2006/main">
              <a:ext uri="{FF2B5EF4-FFF2-40B4-BE49-F238E27FC236}">
                <a16:creationId xmlns:a16="http://schemas.microsoft.com/office/drawing/2014/main" id="{4DBB092E-C240-42ED-8B21-94A9D7980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90800"/>
            <a:ext cx="18859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Synthetic CSV / JSON</a:t>
            </a:r>
          </a:p>
        </p:txBody>
      </p:sp>
      <p:sp>
        <p:nvSpPr>
          <p:cNvPr id="15" name="tech-upload-body">
            <a:extLst xmlns:a="http://schemas.openxmlformats.org/drawingml/2006/main">
              <a:ext uri="{FF2B5EF4-FFF2-40B4-BE49-F238E27FC236}">
                <a16:creationId xmlns:a16="http://schemas.microsoft.com/office/drawing/2014/main" id="{080AE7BB-0A83-4128-B209-3B187725D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33750"/>
            <a:ext cx="18859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13" b="0">
                <a:solidFill>
                  <a:srgbClr val="596574"/>
                </a:solidFill>
                <a:latin typeface="Arial"/>
                <a:ea typeface="Arial"/>
                <a:cs typeface="Arial"/>
              </a:defRPr>
            </a:pPr>
            <a:r>
              <a:rPr sz="1613" b="0">
                <a:solidFill>
                  <a:srgbClr val="596574"/>
                </a:solidFill>
                <a:latin typeface="Arial"/>
                <a:ea typeface="Arial"/>
                <a:cs typeface="Arial"/>
              </a:rPr>
              <a:t>Upload boundary</a:t>
            </a:r>
          </a:p>
          <a:p xmlns:a="http://schemas.openxmlformats.org/drawingml/2006/main">
            <a:pPr algn="l">
              <a:defRPr sz="1613" b="0">
                <a:solidFill>
                  <a:srgbClr val="596574"/>
                </a:solidFill>
                <a:latin typeface="Arial"/>
                <a:ea typeface="Arial"/>
                <a:cs typeface="Arial"/>
              </a:defRPr>
            </a:pPr>
            <a:r>
              <a:rPr sz="1613" b="0">
                <a:solidFill>
                  <a:srgbClr val="596574"/>
                </a:solidFill>
                <a:latin typeface="Arial"/>
                <a:ea typeface="Arial"/>
                <a:cs typeface="Arial"/>
              </a:rPr>
              <a:t>≤10,000 records</a:t>
            </a:r>
          </a:p>
        </p:txBody>
      </p:sp>
      <p:sp>
        <p:nvSpPr>
          <p:cNvPr id="16" name="tech-cloud">
            <a:extLst xmlns:a="http://schemas.openxmlformats.org/drawingml/2006/main">
              <a:ext uri="{FF2B5EF4-FFF2-40B4-BE49-F238E27FC236}">
                <a16:creationId xmlns:a16="http://schemas.microsoft.com/office/drawing/2014/main" id="{9096AE52-68C2-4865-8344-923471AF9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10100"/>
            <a:ext cx="22669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B7D70"/>
            </a:solidFill>
            <a:prstDash val="dash"/>
          </a:ln>
        </p:spPr>
      </p:sp>
      <p:sp>
        <p:nvSpPr>
          <p:cNvPr id="17" name="tech-cloud-text">
            <a:extLst xmlns:a="http://schemas.openxmlformats.org/drawingml/2006/main">
              <a:ext uri="{FF2B5EF4-FFF2-40B4-BE49-F238E27FC236}">
                <a16:creationId xmlns:a16="http://schemas.microsoft.com/office/drawing/2014/main" id="{E7D30586-1F75-4016-A4FF-75091EA88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00600"/>
            <a:ext cx="19240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13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613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AWS · Azure · GCP</a:t>
            </a:r>
          </a:p>
          <a:p xmlns:a="http://schemas.openxmlformats.org/drawingml/2006/main">
            <a:pPr algn="l">
              <a:defRPr sz="1613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613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normalizers</a:t>
            </a:r>
          </a:p>
          <a:p xmlns:a="http://schemas.openxmlformats.org/drawingml/2006/main">
            <a:pPr algn="l">
              <a:defRPr sz="1613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613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planned</a:t>
            </a:r>
          </a:p>
        </p:txBody>
      </p:sp>
      <p:sp>
        <p:nvSpPr>
          <p:cNvPr id="18" name="tech-col-2-title">
            <a:extLst xmlns:a="http://schemas.openxmlformats.org/drawingml/2006/main">
              <a:ext uri="{FF2B5EF4-FFF2-40B4-BE49-F238E27FC236}">
                <a16:creationId xmlns:a16="http://schemas.microsoft.com/office/drawing/2014/main" id="{0B2C0C5D-1E18-483E-BB35-98D13D0BE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1943100"/>
            <a:ext cx="2552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7D7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7D70"/>
                </a:solidFill>
                <a:latin typeface="Arial"/>
                <a:ea typeface="Arial"/>
                <a:cs typeface="Arial"/>
              </a:rPr>
              <a:t>API &amp; STORAGE</a:t>
            </a:r>
          </a:p>
        </p:txBody>
      </p:sp>
      <p:sp>
        <p:nvSpPr>
          <p:cNvPr id="19" name="tech-fastapi">
            <a:extLst xmlns:a="http://schemas.openxmlformats.org/drawingml/2006/main">
              <a:ext uri="{FF2B5EF4-FFF2-40B4-BE49-F238E27FC236}">
                <a16:creationId xmlns:a16="http://schemas.microsoft.com/office/drawing/2014/main" id="{A75D34A2-05A4-45EA-888E-BE6530966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381250"/>
            <a:ext cx="255270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3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0" name="tech-fastapi-title">
            <a:extLst xmlns:a="http://schemas.openxmlformats.org/drawingml/2006/main">
              <a:ext uri="{FF2B5EF4-FFF2-40B4-BE49-F238E27FC236}">
                <a16:creationId xmlns:a16="http://schemas.microsoft.com/office/drawing/2014/main" id="{A14EE01F-40E0-4702-9E45-B17CA38C1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590800"/>
            <a:ext cx="2171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FastAPI</a:t>
            </a:r>
          </a:p>
        </p:txBody>
      </p:sp>
      <p:sp>
        <p:nvSpPr>
          <p:cNvPr id="21" name="tech-fastapi-body">
            <a:extLst xmlns:a="http://schemas.openxmlformats.org/drawingml/2006/main">
              <a:ext uri="{FF2B5EF4-FFF2-40B4-BE49-F238E27FC236}">
                <a16:creationId xmlns:a16="http://schemas.microsoft.com/office/drawing/2014/main" id="{A57DD2FB-DFD6-4C9C-8200-22D1662AC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105150"/>
            <a:ext cx="21717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13" b="0">
                <a:solidFill>
                  <a:srgbClr val="596574"/>
                </a:solidFill>
                <a:latin typeface="Arial"/>
                <a:ea typeface="Arial"/>
                <a:cs typeface="Arial"/>
              </a:defRPr>
            </a:pPr>
            <a:r>
              <a:rPr sz="1613" b="0">
                <a:solidFill>
                  <a:srgbClr val="596574"/>
                </a:solidFill>
                <a:latin typeface="Arial"/>
                <a:ea typeface="Arial"/>
                <a:cs typeface="Arial"/>
              </a:rPr>
              <a:t>REST routers for data, investigations, identities, policy, reports, and copilot</a:t>
            </a:r>
          </a:p>
        </p:txBody>
      </p:sp>
      <p:sp>
        <p:nvSpPr>
          <p:cNvPr id="22" name="tech-sqlite">
            <a:extLst xmlns:a="http://schemas.openxmlformats.org/drawingml/2006/main">
              <a:ext uri="{FF2B5EF4-FFF2-40B4-BE49-F238E27FC236}">
                <a16:creationId xmlns:a16="http://schemas.microsoft.com/office/drawing/2014/main" id="{0A9B2B7A-B392-4D04-A991-9A2529D85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438650"/>
            <a:ext cx="25527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3" name="tech-sqlite-title">
            <a:extLst xmlns:a="http://schemas.openxmlformats.org/drawingml/2006/main">
              <a:ext uri="{FF2B5EF4-FFF2-40B4-BE49-F238E27FC236}">
                <a16:creationId xmlns:a16="http://schemas.microsoft.com/office/drawing/2014/main" id="{7BF37D11-EB5A-4002-BE2F-28CB1CC55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629150"/>
            <a:ext cx="2171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Store + SQLite</a:t>
            </a:r>
          </a:p>
        </p:txBody>
      </p:sp>
      <p:sp>
        <p:nvSpPr>
          <p:cNvPr id="24" name="tech-sqlite-body">
            <a:extLst xmlns:a="http://schemas.openxmlformats.org/drawingml/2006/main">
              <a:ext uri="{FF2B5EF4-FFF2-40B4-BE49-F238E27FC236}">
                <a16:creationId xmlns:a16="http://schemas.microsoft.com/office/drawing/2014/main" id="{A33F24B2-8DDB-45A8-9E58-FE5292840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5143500"/>
            <a:ext cx="2171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13" b="0">
                <a:solidFill>
                  <a:srgbClr val="596574"/>
                </a:solidFill>
                <a:latin typeface="Arial"/>
                <a:ea typeface="Arial"/>
                <a:cs typeface="Arial"/>
              </a:defRPr>
            </a:pPr>
            <a:r>
              <a:rPr sz="1613" b="0">
                <a:solidFill>
                  <a:srgbClr val="596574"/>
                </a:solidFill>
                <a:latin typeface="Arial"/>
                <a:ea typeface="Arial"/>
                <a:cs typeface="Arial"/>
              </a:rPr>
              <a:t>Findings · activity · identities</a:t>
            </a:r>
          </a:p>
          <a:p xmlns:a="http://schemas.openxmlformats.org/drawingml/2006/main">
            <a:pPr algn="l">
              <a:defRPr sz="1613" b="0">
                <a:solidFill>
                  <a:srgbClr val="596574"/>
                </a:solidFill>
                <a:latin typeface="Arial"/>
                <a:ea typeface="Arial"/>
                <a:cs typeface="Arial"/>
              </a:defRPr>
            </a:pPr>
            <a:r>
              <a:rPr sz="1613" b="0">
                <a:solidFill>
                  <a:srgbClr val="596574"/>
                </a:solidFill>
                <a:latin typeface="Arial"/>
                <a:ea typeface="Arial"/>
                <a:cs typeface="Arial"/>
              </a:rPr>
              <a:t>Policies · reports · AI cache</a:t>
            </a:r>
          </a:p>
        </p:txBody>
      </p:sp>
      <p:sp>
        <p:nvSpPr>
          <p:cNvPr id="25" name="tech-col-3-title">
            <a:extLst xmlns:a="http://schemas.openxmlformats.org/drawingml/2006/main">
              <a:ext uri="{FF2B5EF4-FFF2-40B4-BE49-F238E27FC236}">
                <a16:creationId xmlns:a16="http://schemas.microsoft.com/office/drawing/2014/main" id="{058E5EC5-4EB6-4671-A289-960EA0452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943100"/>
            <a:ext cx="2419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7D7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7D70"/>
                </a:solidFill>
                <a:latin typeface="Arial"/>
                <a:ea typeface="Arial"/>
                <a:cs typeface="Arial"/>
              </a:rPr>
              <a:t>AI LAYER</a:t>
            </a:r>
          </a:p>
        </p:txBody>
      </p:sp>
      <p:sp>
        <p:nvSpPr>
          <p:cNvPr id="26" name="tech-litellm">
            <a:extLst xmlns:a="http://schemas.openxmlformats.org/drawingml/2006/main">
              <a:ext uri="{FF2B5EF4-FFF2-40B4-BE49-F238E27FC236}">
                <a16:creationId xmlns:a16="http://schemas.microsoft.com/office/drawing/2014/main" id="{1418050A-A326-44AC-B280-94C93E168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381250"/>
            <a:ext cx="241935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F8F2"/>
          </a:solidFill>
          <a:ln xmlns:a="http://schemas.openxmlformats.org/drawingml/2006/main" w="9525">
            <a:solidFill>
              <a:srgbClr val="39E0C5"/>
            </a:solidFill>
            <a:prstDash val="solid"/>
          </a:ln>
        </p:spPr>
      </p:sp>
      <p:sp>
        <p:nvSpPr>
          <p:cNvPr id="27" name="tech-litellm-title">
            <a:extLst xmlns:a="http://schemas.openxmlformats.org/drawingml/2006/main">
              <a:ext uri="{FF2B5EF4-FFF2-40B4-BE49-F238E27FC236}">
                <a16:creationId xmlns:a16="http://schemas.microsoft.com/office/drawing/2014/main" id="{3FEA44EB-E7D7-4059-9AD9-74B569443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590800"/>
            <a:ext cx="2038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liteLLM</a:t>
            </a:r>
          </a:p>
        </p:txBody>
      </p:sp>
      <p:sp>
        <p:nvSpPr>
          <p:cNvPr id="28" name="tech-litellm-body">
            <a:extLst xmlns:a="http://schemas.openxmlformats.org/drawingml/2006/main">
              <a:ext uri="{FF2B5EF4-FFF2-40B4-BE49-F238E27FC236}">
                <a16:creationId xmlns:a16="http://schemas.microsoft.com/office/drawing/2014/main" id="{1399DB44-CC7A-44D5-96D3-E27A9B07B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200400"/>
            <a:ext cx="20383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13" b="0">
                <a:solidFill>
                  <a:srgbClr val="596574"/>
                </a:solidFill>
                <a:latin typeface="Arial"/>
                <a:ea typeface="Arial"/>
                <a:cs typeface="Arial"/>
              </a:defRPr>
            </a:pPr>
            <a:r>
              <a:rPr sz="1613" b="0">
                <a:solidFill>
                  <a:srgbClr val="596574"/>
                </a:solidFill>
                <a:latin typeface="Arial"/>
                <a:ea typeface="Arial"/>
                <a:cs typeface="Arial"/>
              </a:rPr>
              <a:t>OpenAI-compatible chat path</a:t>
            </a:r>
          </a:p>
          <a:p xmlns:a="http://schemas.openxmlformats.org/drawingml/2006/main">
            <a:pPr algn="l">
              <a:defRPr sz="1613" b="0">
                <a:solidFill>
                  <a:srgbClr val="596574"/>
                </a:solidFill>
                <a:latin typeface="Arial"/>
                <a:ea typeface="Arial"/>
                <a:cs typeface="Arial"/>
              </a:defRPr>
            </a:pPr>
            <a:r>
              <a:rPr sz="1613" b="0">
                <a:solidFill>
                  <a:srgbClr val="596574"/>
                </a:solidFill>
                <a:latin typeface="Arial"/>
                <a:ea typeface="Arial"/>
                <a:cs typeface="Arial"/>
              </a:rPr>
              <a:t>15-second timeout</a:t>
            </a:r>
          </a:p>
        </p:txBody>
      </p:sp>
      <p:sp>
        <p:nvSpPr>
          <p:cNvPr id="29" name="tech-ai-features">
            <a:extLst xmlns:a="http://schemas.openxmlformats.org/drawingml/2006/main">
              <a:ext uri="{FF2B5EF4-FFF2-40B4-BE49-F238E27FC236}">
                <a16:creationId xmlns:a16="http://schemas.microsoft.com/office/drawing/2014/main" id="{7D49C378-CFBE-4699-ACB0-9F263132C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438650"/>
            <a:ext cx="24193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0" name="tech-ai-features-title">
            <a:extLst xmlns:a="http://schemas.openxmlformats.org/drawingml/2006/main">
              <a:ext uri="{FF2B5EF4-FFF2-40B4-BE49-F238E27FC236}">
                <a16:creationId xmlns:a16="http://schemas.microsoft.com/office/drawing/2014/main" id="{7FE3E7FC-6C7E-497D-A643-85EAED6EA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629150"/>
            <a:ext cx="2038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AI capabilities</a:t>
            </a:r>
          </a:p>
        </p:txBody>
      </p:sp>
      <p:sp>
        <p:nvSpPr>
          <p:cNvPr id="31" name="tech-ai-features-body">
            <a:extLst xmlns:a="http://schemas.openxmlformats.org/drawingml/2006/main">
              <a:ext uri="{FF2B5EF4-FFF2-40B4-BE49-F238E27FC236}">
                <a16:creationId xmlns:a16="http://schemas.microsoft.com/office/drawing/2014/main" id="{7F28011D-6B87-43D3-9163-DFCDA9D7D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143500"/>
            <a:ext cx="20383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13" b="0">
                <a:solidFill>
                  <a:srgbClr val="596574"/>
                </a:solidFill>
                <a:latin typeface="Arial"/>
                <a:ea typeface="Arial"/>
                <a:cs typeface="Arial"/>
              </a:defRPr>
            </a:pPr>
            <a:r>
              <a:rPr sz="1613" b="0">
                <a:solidFill>
                  <a:srgbClr val="596574"/>
                </a:solidFill>
                <a:latin typeface="Arial"/>
                <a:ea typeface="Arial"/>
                <a:cs typeface="Arial"/>
              </a:rPr>
              <a:t>Explanations</a:t>
            </a:r>
          </a:p>
          <a:p xmlns:a="http://schemas.openxmlformats.org/drawingml/2006/main">
            <a:pPr algn="l">
              <a:defRPr sz="1613" b="0">
                <a:solidFill>
                  <a:srgbClr val="596574"/>
                </a:solidFill>
                <a:latin typeface="Arial"/>
                <a:ea typeface="Arial"/>
                <a:cs typeface="Arial"/>
              </a:defRPr>
            </a:pPr>
            <a:r>
              <a:rPr sz="1613" b="0">
                <a:solidFill>
                  <a:srgbClr val="596574"/>
                </a:solidFill>
                <a:latin typeface="Arial"/>
                <a:ea typeface="Arial"/>
                <a:cs typeface="Arial"/>
              </a:rPr>
              <a:t>Copilot tool calls</a:t>
            </a:r>
          </a:p>
          <a:p xmlns:a="http://schemas.openxmlformats.org/drawingml/2006/main">
            <a:pPr algn="l">
              <a:defRPr sz="1613" b="0">
                <a:solidFill>
                  <a:srgbClr val="596574"/>
                </a:solidFill>
                <a:latin typeface="Arial"/>
                <a:ea typeface="Arial"/>
                <a:cs typeface="Arial"/>
              </a:defRPr>
            </a:pPr>
            <a:r>
              <a:rPr sz="1613" b="0">
                <a:solidFill>
                  <a:srgbClr val="596574"/>
                </a:solidFill>
                <a:latin typeface="Arial"/>
                <a:ea typeface="Arial"/>
                <a:cs typeface="Arial"/>
              </a:rPr>
              <a:t>Report narratives</a:t>
            </a:r>
          </a:p>
        </p:txBody>
      </p:sp>
      <p:sp>
        <p:nvSpPr>
          <p:cNvPr id="32" name="tech-col-4-title">
            <a:extLst xmlns:a="http://schemas.openxmlformats.org/drawingml/2006/main">
              <a:ext uri="{FF2B5EF4-FFF2-40B4-BE49-F238E27FC236}">
                <a16:creationId xmlns:a16="http://schemas.microsoft.com/office/drawing/2014/main" id="{025DFC41-5212-4B4A-A679-941E564B7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943100"/>
            <a:ext cx="2743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7D7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7D70"/>
                </a:solidFill>
                <a:latin typeface="Arial"/>
                <a:ea typeface="Arial"/>
                <a:cs typeface="Arial"/>
              </a:rPr>
              <a:t>ANALYST EXPERIENCE</a:t>
            </a:r>
          </a:p>
        </p:txBody>
      </p:sp>
      <p:sp>
        <p:nvSpPr>
          <p:cNvPr id="33" name="tech-react">
            <a:extLst xmlns:a="http://schemas.openxmlformats.org/drawingml/2006/main">
              <a:ext uri="{FF2B5EF4-FFF2-40B4-BE49-F238E27FC236}">
                <a16:creationId xmlns:a16="http://schemas.microsoft.com/office/drawing/2014/main" id="{B4A47D18-3267-4A37-9D0F-51D1452E1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381250"/>
            <a:ext cx="2743200" cy="3486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0B1220"/>
            </a:solidFill>
            <a:prstDash val="solid"/>
          </a:ln>
        </p:spPr>
      </p:sp>
      <p:sp>
        <p:nvSpPr>
          <p:cNvPr id="34" name="tech-react-title">
            <a:extLst xmlns:a="http://schemas.openxmlformats.org/drawingml/2006/main">
              <a:ext uri="{FF2B5EF4-FFF2-40B4-BE49-F238E27FC236}">
                <a16:creationId xmlns:a16="http://schemas.microsoft.com/office/drawing/2014/main" id="{DA9988EE-C2FA-4496-A826-8E8A93561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609850"/>
            <a:ext cx="228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React + Vite</a:t>
            </a:r>
          </a:p>
        </p:txBody>
      </p:sp>
      <p:sp>
        <p:nvSpPr>
          <p:cNvPr id="35" name="tech-react-body">
            <a:extLst xmlns:a="http://schemas.openxmlformats.org/drawingml/2006/main">
              <a:ext uri="{FF2B5EF4-FFF2-40B4-BE49-F238E27FC236}">
                <a16:creationId xmlns:a16="http://schemas.microsoft.com/office/drawing/2014/main" id="{9D1C0F45-729B-4DD2-AC17-1C047525E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276600"/>
            <a:ext cx="2286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Command Center</a:t>
            </a:r>
          </a:p>
          <a:p xmlns:a="http://schemas.openxmlformats.org/drawingml/2006/main">
            <a:pPr algn="l"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Activity Explorer</a:t>
            </a:r>
          </a:p>
          <a:p xmlns:a="http://schemas.openxmlformats.org/drawingml/2006/main">
            <a:pPr algn="l"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Identity Profiles</a:t>
            </a:r>
          </a:p>
          <a:p xmlns:a="http://schemas.openxmlformats.org/drawingml/2006/main">
            <a:pPr algn="l"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Cloud Estate</a:t>
            </a:r>
          </a:p>
          <a:p xmlns:a="http://schemas.openxmlformats.org/drawingml/2006/main">
            <a:pPr algn="l"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Policies &amp; Reports</a:t>
            </a:r>
          </a:p>
        </p:txBody>
      </p:sp>
      <p:sp>
        <p:nvSpPr>
          <p:cNvPr id="36" name="tech-react-footer">
            <a:extLst xmlns:a="http://schemas.openxmlformats.org/drawingml/2006/main">
              <a:ext uri="{FF2B5EF4-FFF2-40B4-BE49-F238E27FC236}">
                <a16:creationId xmlns:a16="http://schemas.microsoft.com/office/drawing/2014/main" id="{D66AB638-2171-4A11-8F3F-7B47B2BB9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391150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9E0C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9E0C5"/>
                </a:solidFill>
                <a:latin typeface="Arial"/>
                <a:ea typeface="Arial"/>
                <a:cs typeface="Arial"/>
              </a:rPr>
              <a:t>Evidence dossier + Ask Sentinel</a:t>
            </a:r>
          </a:p>
        </p:txBody>
      </p:sp>
    </p:spTree>
    <p:extLst>
      <p:ext uri="{BB962C8B-B14F-4D97-AF65-F5344CB8AC3E}">
        <p14:creationId xmlns:p14="http://schemas.microsoft.com/office/powerpoint/2010/main" val="103713475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eyebrow-5">
            <a:extLst xmlns:a="http://schemas.openxmlformats.org/drawingml/2006/main">
              <a:ext uri="{FF2B5EF4-FFF2-40B4-BE49-F238E27FC236}">
                <a16:creationId xmlns:a16="http://schemas.microsoft.com/office/drawing/2014/main" id="{16FF83F2-515E-4206-B752-C9312A668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7D7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7D70"/>
                </a:solidFill>
                <a:latin typeface="Arial"/>
                <a:ea typeface="Arial"/>
                <a:cs typeface="Arial"/>
              </a:rPr>
              <a:t>AI / ML COMPONENTS</a:t>
            </a:r>
          </a:p>
        </p:txBody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AA16CD21-07BC-431A-90B9-7F9C4297B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11125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AI adds context without owning the controls</a:t>
            </a:r>
          </a:p>
        </p:txBody>
      </p:sp>
      <p:cxnSp>
        <p:nvCxnSpPr>
          <p:cNvPr id="22" name="header-rule-5"/>
          <p:cNvCxnSpPr/>
          <p:nvPr/>
        </p:nvCxnSpPr>
        <p:spPr>
          <a:xfrm xmlns:a="http://schemas.openxmlformats.org/drawingml/2006/main">
            <a:off x="533400" y="1485900"/>
            <a:ext cx="111252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B1220"/>
            </a:solidFill>
            <a:prstDash val="solid"/>
          </a:ln>
        </p:spPr>
      </p:cxnSp>
      <p:sp>
        <p:nvSpPr>
          <p:cNvPr id="4" name="page-5">
            <a:extLst xmlns:a="http://schemas.openxmlformats.org/drawingml/2006/main">
              <a:ext uri="{FF2B5EF4-FFF2-40B4-BE49-F238E27FC236}">
                <a16:creationId xmlns:a16="http://schemas.microsoft.com/office/drawing/2014/main" id="{66000D58-A586-4225-890C-0ABC829C8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9657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96574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cxnSp>
        <p:nvCxnSpPr>
          <p:cNvPr id="24" name="ai-top-rule-0"/>
          <p:cNvCxnSpPr/>
          <p:nvPr/>
        </p:nvCxnSpPr>
        <p:spPr>
          <a:xfrm xmlns:a="http://schemas.openxmlformats.org/drawingml/2006/main">
            <a:off x="533400" y="2095500"/>
            <a:ext cx="32766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B1220"/>
            </a:solidFill>
            <a:prstDash val="solid"/>
          </a:ln>
        </p:spPr>
      </p:cxnSp>
      <p:sp>
        <p:nvSpPr>
          <p:cNvPr id="6" name="ai-tag-0">
            <a:extLst xmlns:a="http://schemas.openxmlformats.org/drawingml/2006/main">
              <a:ext uri="{FF2B5EF4-FFF2-40B4-BE49-F238E27FC236}">
                <a16:creationId xmlns:a16="http://schemas.microsoft.com/office/drawing/2014/main" id="{D8480BAA-C2F6-403D-AC57-438A7C81D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050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7D7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B7D70"/>
                </a:solidFill>
                <a:latin typeface="Arial"/>
                <a:ea typeface="Arial"/>
                <a:cs typeface="Arial"/>
              </a:rPr>
              <a:t>IMPLEMENTED</a:t>
            </a:r>
          </a:p>
        </p:txBody>
      </p:sp>
      <p:sp>
        <p:nvSpPr>
          <p:cNvPr id="7" name="ai-title-0">
            <a:extLst xmlns:a="http://schemas.openxmlformats.org/drawingml/2006/main">
              <a:ext uri="{FF2B5EF4-FFF2-40B4-BE49-F238E27FC236}">
                <a16:creationId xmlns:a16="http://schemas.microsoft.com/office/drawing/2014/main" id="{78608068-7F9A-4AD5-A081-5AFCC2A8A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43200"/>
            <a:ext cx="3143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Finding explanations</a:t>
            </a:r>
          </a:p>
        </p:txBody>
      </p:sp>
      <p:sp>
        <p:nvSpPr>
          <p:cNvPr id="8" name="ai-body-0">
            <a:extLst xmlns:a="http://schemas.openxmlformats.org/drawingml/2006/main">
              <a:ext uri="{FF2B5EF4-FFF2-40B4-BE49-F238E27FC236}">
                <a16:creationId xmlns:a16="http://schemas.microsoft.com/office/drawing/2014/main" id="{888B8AEE-AD20-4190-8C0F-4DA1CEBF8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43300"/>
            <a:ext cx="3143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9657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96574"/>
                </a:solidFill>
                <a:latin typeface="Arial"/>
                <a:ea typeface="Arial"/>
                <a:cs typeface="Arial"/>
              </a:rPr>
              <a:t>Generates 2–3 plain-language sentences from a finding’s evidence and baseline; caches the result; falls back safely.</a:t>
            </a:r>
          </a:p>
        </p:txBody>
      </p:sp>
      <p:cxnSp>
        <p:nvCxnSpPr>
          <p:cNvPr id="28" name="ai-top-rule-1"/>
          <p:cNvCxnSpPr/>
          <p:nvPr/>
        </p:nvCxnSpPr>
        <p:spPr>
          <a:xfrm xmlns:a="http://schemas.openxmlformats.org/drawingml/2006/main">
            <a:off x="4191000" y="2095500"/>
            <a:ext cx="3276600" cy="0"/>
          </a:xfrm>
          <a:prstGeom xmlns:a="http://schemas.openxmlformats.org/drawingml/2006/main" prst="straightConnector1">
            <a:avLst/>
          </a:prstGeom>
          <a:ln xmlns:a="http://schemas.openxmlformats.org/drawingml/2006/main" w="47625">
            <a:solidFill>
              <a:srgbClr val="39E0C5"/>
            </a:solidFill>
            <a:prstDash val="solid"/>
          </a:ln>
        </p:spPr>
      </p:cxnSp>
      <p:sp>
        <p:nvSpPr>
          <p:cNvPr id="10" name="ai-tag-1">
            <a:extLst xmlns:a="http://schemas.openxmlformats.org/drawingml/2006/main">
              <a:ext uri="{FF2B5EF4-FFF2-40B4-BE49-F238E27FC236}">
                <a16:creationId xmlns:a16="http://schemas.microsoft.com/office/drawing/2014/main" id="{3E56AA2E-1326-4786-A0C8-9E54985DC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3050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7D7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B7D70"/>
                </a:solidFill>
                <a:latin typeface="Arial"/>
                <a:ea typeface="Arial"/>
                <a:cs typeface="Arial"/>
              </a:rPr>
              <a:t>IMPLEMENTED</a:t>
            </a:r>
          </a:p>
        </p:txBody>
      </p:sp>
      <p:sp>
        <p:nvSpPr>
          <p:cNvPr id="11" name="ai-title-1">
            <a:extLst xmlns:a="http://schemas.openxmlformats.org/drawingml/2006/main">
              <a:ext uri="{FF2B5EF4-FFF2-40B4-BE49-F238E27FC236}">
                <a16:creationId xmlns:a16="http://schemas.microsoft.com/office/drawing/2014/main" id="{FBC55207-3CFD-4FC2-B943-3E7979400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743200"/>
            <a:ext cx="3143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Ask Sentinel copilot</a:t>
            </a:r>
          </a:p>
        </p:txBody>
      </p:sp>
      <p:sp>
        <p:nvSpPr>
          <p:cNvPr id="12" name="ai-body-1">
            <a:extLst xmlns:a="http://schemas.openxmlformats.org/drawingml/2006/main">
              <a:ext uri="{FF2B5EF4-FFF2-40B4-BE49-F238E27FC236}">
                <a16:creationId xmlns:a16="http://schemas.microsoft.com/office/drawing/2014/main" id="{A12E53F5-EFE8-48AA-BFEC-8A8877BC6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543300"/>
            <a:ext cx="3143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9657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96574"/>
                </a:solidFill>
                <a:latin typeface="Arial"/>
                <a:ea typeface="Arial"/>
                <a:cs typeface="Arial"/>
              </a:rPr>
              <a:t>Uses bounded tool calling to filter current findings, activity, and identities; returns the underlying records with the answer.</a:t>
            </a:r>
          </a:p>
        </p:txBody>
      </p:sp>
      <p:cxnSp>
        <p:nvCxnSpPr>
          <p:cNvPr id="32" name="ai-top-rule-2"/>
          <p:cNvCxnSpPr/>
          <p:nvPr/>
        </p:nvCxnSpPr>
        <p:spPr>
          <a:xfrm xmlns:a="http://schemas.openxmlformats.org/drawingml/2006/main">
            <a:off x="7848600" y="2095500"/>
            <a:ext cx="32766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B1220"/>
            </a:solidFill>
            <a:prstDash val="solid"/>
          </a:ln>
        </p:spPr>
      </p:cxnSp>
      <p:sp>
        <p:nvSpPr>
          <p:cNvPr id="14" name="ai-tag-2">
            <a:extLst xmlns:a="http://schemas.openxmlformats.org/drawingml/2006/main">
              <a:ext uri="{FF2B5EF4-FFF2-40B4-BE49-F238E27FC236}">
                <a16:creationId xmlns:a16="http://schemas.microsoft.com/office/drawing/2014/main" id="{7DF904F6-A8C0-4E72-95D0-E8ADDE05F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050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7D7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B7D70"/>
                </a:solidFill>
                <a:latin typeface="Arial"/>
                <a:ea typeface="Arial"/>
                <a:cs typeface="Arial"/>
              </a:rPr>
              <a:t>IMPLEMENTED</a:t>
            </a:r>
          </a:p>
        </p:txBody>
      </p:sp>
      <p:sp>
        <p:nvSpPr>
          <p:cNvPr id="15" name="ai-title-2">
            <a:extLst xmlns:a="http://schemas.openxmlformats.org/drawingml/2006/main">
              <a:ext uri="{FF2B5EF4-FFF2-40B4-BE49-F238E27FC236}">
                <a16:creationId xmlns:a16="http://schemas.microsoft.com/office/drawing/2014/main" id="{EE2AD8BF-93D5-4D1C-BBF3-34B5660B2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743200"/>
            <a:ext cx="3143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Report narratives</a:t>
            </a:r>
          </a:p>
        </p:txBody>
      </p:sp>
      <p:sp>
        <p:nvSpPr>
          <p:cNvPr id="16" name="ai-body-2">
            <a:extLst xmlns:a="http://schemas.openxmlformats.org/drawingml/2006/main">
              <a:ext uri="{FF2B5EF4-FFF2-40B4-BE49-F238E27FC236}">
                <a16:creationId xmlns:a16="http://schemas.microsoft.com/office/drawing/2014/main" id="{A5B8AD1A-B58B-4CCA-ABA0-59979FCDA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543300"/>
            <a:ext cx="3143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9657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96574"/>
                </a:solidFill>
                <a:latin typeface="Arial"/>
                <a:ea typeface="Arial"/>
                <a:cs typeface="Arial"/>
              </a:rPr>
              <a:t>Drafts a 3–5 sentence security narrative from current findings and event counts without inventing new data.</a:t>
            </a:r>
          </a:p>
        </p:txBody>
      </p:sp>
      <p:sp>
        <p:nvSpPr>
          <p:cNvPr id="17" name="ai-guardrail">
            <a:extLst xmlns:a="http://schemas.openxmlformats.org/drawingml/2006/main">
              <a:ext uri="{FF2B5EF4-FFF2-40B4-BE49-F238E27FC236}">
                <a16:creationId xmlns:a16="http://schemas.microsoft.com/office/drawing/2014/main" id="{B9264938-CFA2-4E1D-8443-CAE02CD7C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95900"/>
            <a:ext cx="105918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B1220"/>
            </a:solidFill>
            <a:prstDash val="solid"/>
          </a:ln>
        </p:spPr>
      </p:sp>
      <p:sp>
        <p:nvSpPr>
          <p:cNvPr id="18" name="ai-guardrail-title">
            <a:extLst xmlns:a="http://schemas.openxmlformats.org/drawingml/2006/main">
              <a:ext uri="{FF2B5EF4-FFF2-40B4-BE49-F238E27FC236}">
                <a16:creationId xmlns:a16="http://schemas.microsoft.com/office/drawing/2014/main" id="{0855FE18-34FA-4096-8FDD-12A212570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673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9E0C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9E0C5"/>
                </a:solidFill>
                <a:latin typeface="Arial"/>
                <a:ea typeface="Arial"/>
                <a:cs typeface="Arial"/>
              </a:rPr>
              <a:t>DESIGNED NEXT · POLICY-FIRST RISK</a:t>
            </a:r>
          </a:p>
        </p:txBody>
      </p:sp>
      <p:sp>
        <p:nvSpPr>
          <p:cNvPr id="19" name="ai-guardrail-formula">
            <a:extLst xmlns:a="http://schemas.openxmlformats.org/drawingml/2006/main">
              <a:ext uri="{FF2B5EF4-FFF2-40B4-BE49-F238E27FC236}">
                <a16:creationId xmlns:a16="http://schemas.microsoft.com/office/drawing/2014/main" id="{DCAF3F17-F75B-44CF-BDF0-B0B65A442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5438775"/>
            <a:ext cx="6877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Final score = deterministic policy score + validated AI adjustment, with severity floors applied last.</a:t>
            </a:r>
          </a:p>
        </p:txBody>
      </p:sp>
    </p:spTree>
    <p:extLst>
      <p:ext uri="{BB962C8B-B14F-4D97-AF65-F5344CB8AC3E}">
        <p14:creationId xmlns:p14="http://schemas.microsoft.com/office/powerpoint/2010/main" val="148850224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eyebrow-6">
            <a:extLst xmlns:a="http://schemas.openxmlformats.org/drawingml/2006/main">
              <a:ext uri="{FF2B5EF4-FFF2-40B4-BE49-F238E27FC236}">
                <a16:creationId xmlns:a16="http://schemas.microsoft.com/office/drawing/2014/main" id="{19D41131-998F-4D4D-9C6D-840624E9F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7D7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7D70"/>
                </a:solidFill>
                <a:latin typeface="Arial"/>
                <a:ea typeface="Arial"/>
                <a:cs typeface="Arial"/>
              </a:rPr>
              <a:t>INNOVATION &amp; CREATIVITY</a:t>
            </a:r>
          </a:p>
        </p:txBody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4105452F-11C8-44DF-909B-600120F25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11125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Innovation connects evidence directly to action</a:t>
            </a:r>
          </a:p>
        </p:txBody>
      </p:sp>
      <p:cxnSp>
        <p:nvCxnSpPr>
          <p:cNvPr id="23" name="header-rule-6"/>
          <p:cNvCxnSpPr/>
          <p:nvPr/>
        </p:nvCxnSpPr>
        <p:spPr>
          <a:xfrm xmlns:a="http://schemas.openxmlformats.org/drawingml/2006/main">
            <a:off x="533400" y="1485900"/>
            <a:ext cx="111252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B1220"/>
            </a:solidFill>
            <a:prstDash val="solid"/>
          </a:ln>
        </p:spPr>
      </p:cxnSp>
      <p:sp>
        <p:nvSpPr>
          <p:cNvPr id="4" name="page-6">
            <a:extLst xmlns:a="http://schemas.openxmlformats.org/drawingml/2006/main">
              <a:ext uri="{FF2B5EF4-FFF2-40B4-BE49-F238E27FC236}">
                <a16:creationId xmlns:a16="http://schemas.microsoft.com/office/drawing/2014/main" id="{70014DD8-9E41-494F-B670-7D38CB813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9657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96574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cxnSp>
        <p:nvCxnSpPr>
          <p:cNvPr id="25" name="innov-rule-01"/>
          <p:cNvCxnSpPr/>
          <p:nvPr/>
        </p:nvCxnSpPr>
        <p:spPr>
          <a:xfrm xmlns:a="http://schemas.openxmlformats.org/drawingml/2006/main">
            <a:off x="533400" y="2076450"/>
            <a:ext cx="49530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39E0C5"/>
            </a:solidFill>
            <a:prstDash val="solid"/>
          </a:ln>
        </p:spPr>
      </p:cxnSp>
      <p:sp>
        <p:nvSpPr>
          <p:cNvPr id="6" name="innov-num-01">
            <a:extLst xmlns:a="http://schemas.openxmlformats.org/drawingml/2006/main">
              <a:ext uri="{FF2B5EF4-FFF2-40B4-BE49-F238E27FC236}">
                <a16:creationId xmlns:a16="http://schemas.microsoft.com/office/drawing/2014/main" id="{45825311-F2BA-4820-83C2-10E5F52BA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0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7D7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7D7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innov-title-01">
            <a:extLst xmlns:a="http://schemas.openxmlformats.org/drawingml/2006/main">
              <a:ext uri="{FF2B5EF4-FFF2-40B4-BE49-F238E27FC236}">
                <a16:creationId xmlns:a16="http://schemas.microsoft.com/office/drawing/2014/main" id="{2F135A08-2C67-48E0-B7EB-CAF5A4528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26695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Evidence before alarm</a:t>
            </a:r>
          </a:p>
        </p:txBody>
      </p:sp>
      <p:sp>
        <p:nvSpPr>
          <p:cNvPr id="8" name="innov-body-01">
            <a:extLst xmlns:a="http://schemas.openxmlformats.org/drawingml/2006/main">
              <a:ext uri="{FF2B5EF4-FFF2-40B4-BE49-F238E27FC236}">
                <a16:creationId xmlns:a16="http://schemas.microsoft.com/office/drawing/2014/main" id="{5EBA5B78-F111-402B-9E13-737F9F36E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800350"/>
            <a:ext cx="4095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13" b="0">
                <a:solidFill>
                  <a:srgbClr val="596574"/>
                </a:solidFill>
                <a:latin typeface="Arial"/>
                <a:ea typeface="Arial"/>
                <a:cs typeface="Arial"/>
              </a:defRPr>
            </a:pPr>
            <a:r>
              <a:rPr sz="1613" b="0">
                <a:solidFill>
                  <a:srgbClr val="596574"/>
                </a:solidFill>
                <a:latin typeface="Arial"/>
                <a:ea typeface="Arial"/>
                <a:cs typeface="Arial"/>
              </a:rPr>
              <a:t>The dossier starts with the causal story, evidence chips, expected baseline, and a recommended action.</a:t>
            </a:r>
          </a:p>
        </p:txBody>
      </p:sp>
      <p:cxnSp>
        <p:nvCxnSpPr>
          <p:cNvPr id="29" name="innov-rule-02"/>
          <p:cNvCxnSpPr/>
          <p:nvPr/>
        </p:nvCxnSpPr>
        <p:spPr>
          <a:xfrm xmlns:a="http://schemas.openxmlformats.org/drawingml/2006/main">
            <a:off x="6191250" y="2076450"/>
            <a:ext cx="4953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0" name="innov-num-02">
            <a:extLst xmlns:a="http://schemas.openxmlformats.org/drawingml/2006/main">
              <a:ext uri="{FF2B5EF4-FFF2-40B4-BE49-F238E27FC236}">
                <a16:creationId xmlns:a16="http://schemas.microsoft.com/office/drawing/2014/main" id="{661B8E03-5216-44E1-90A5-5BBD7F445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86000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7D7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7D7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innov-title-02">
            <a:extLst xmlns:a="http://schemas.openxmlformats.org/drawingml/2006/main">
              <a:ext uri="{FF2B5EF4-FFF2-40B4-BE49-F238E27FC236}">
                <a16:creationId xmlns:a16="http://schemas.microsoft.com/office/drawing/2014/main" id="{2A456636-01E1-4A34-B65A-4F0809BD2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26695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Constrained intelligence</a:t>
            </a:r>
          </a:p>
        </p:txBody>
      </p:sp>
      <p:sp>
        <p:nvSpPr>
          <p:cNvPr id="12" name="innov-body-02">
            <a:extLst xmlns:a="http://schemas.openxmlformats.org/drawingml/2006/main">
              <a:ext uri="{FF2B5EF4-FFF2-40B4-BE49-F238E27FC236}">
                <a16:creationId xmlns:a16="http://schemas.microsoft.com/office/drawing/2014/main" id="{C2B04B2D-A5F5-491E-8DC0-196DCCACB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800350"/>
            <a:ext cx="4095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13" b="0">
                <a:solidFill>
                  <a:srgbClr val="596574"/>
                </a:solidFill>
                <a:latin typeface="Arial"/>
                <a:ea typeface="Arial"/>
                <a:cs typeface="Arial"/>
              </a:defRPr>
            </a:pPr>
            <a:r>
              <a:rPr sz="1613" b="0">
                <a:solidFill>
                  <a:srgbClr val="596574"/>
                </a:solidFill>
                <a:latin typeface="Arial"/>
                <a:ea typeface="Arial"/>
                <a:cs typeface="Arial"/>
              </a:rPr>
              <a:t>AI explains and searches; deterministic controls, validation, fallbacks, and evidence IDs protect the decision.</a:t>
            </a:r>
          </a:p>
        </p:txBody>
      </p:sp>
      <p:cxnSp>
        <p:nvCxnSpPr>
          <p:cNvPr id="33" name="innov-rule-03"/>
          <p:cNvCxnSpPr/>
          <p:nvPr/>
        </p:nvCxnSpPr>
        <p:spPr>
          <a:xfrm xmlns:a="http://schemas.openxmlformats.org/drawingml/2006/main">
            <a:off x="533400" y="4114800"/>
            <a:ext cx="4953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4" name="innov-num-03">
            <a:extLst xmlns:a="http://schemas.openxmlformats.org/drawingml/2006/main">
              <a:ext uri="{FF2B5EF4-FFF2-40B4-BE49-F238E27FC236}">
                <a16:creationId xmlns:a16="http://schemas.microsoft.com/office/drawing/2014/main" id="{773308C1-45AE-4AF3-A8B6-A93843E03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24350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7D7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7D7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5" name="innov-title-03">
            <a:extLst xmlns:a="http://schemas.openxmlformats.org/drawingml/2006/main">
              <a:ext uri="{FF2B5EF4-FFF2-40B4-BE49-F238E27FC236}">
                <a16:creationId xmlns:a16="http://schemas.microsoft.com/office/drawing/2014/main" id="{C945079E-5EE9-46FC-98EE-F23D7BA53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30530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Signal Room language</a:t>
            </a:r>
          </a:p>
        </p:txBody>
      </p:sp>
      <p:sp>
        <p:nvSpPr>
          <p:cNvPr id="16" name="innov-body-03">
            <a:extLst xmlns:a="http://schemas.openxmlformats.org/drawingml/2006/main">
              <a:ext uri="{FF2B5EF4-FFF2-40B4-BE49-F238E27FC236}">
                <a16:creationId xmlns:a16="http://schemas.microsoft.com/office/drawing/2014/main" id="{A40910F7-B07C-411F-9492-B2F74A35E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838700"/>
            <a:ext cx="4095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13" b="0">
                <a:solidFill>
                  <a:srgbClr val="596574"/>
                </a:solidFill>
                <a:latin typeface="Arial"/>
                <a:ea typeface="Arial"/>
                <a:cs typeface="Arial"/>
              </a:defRPr>
            </a:pPr>
            <a:r>
              <a:rPr sz="1613" b="0">
                <a:solidFill>
                  <a:srgbClr val="596574"/>
                </a:solidFill>
                <a:latin typeface="Arial"/>
                <a:ea typeface="Arial"/>
                <a:cs typeface="Arial"/>
              </a:rPr>
              <a:t>A calm intelligence-console design uses Signal Teal, segmented risk traces, and operational verbs—not cyberpunk noise.</a:t>
            </a:r>
          </a:p>
        </p:txBody>
      </p:sp>
      <p:cxnSp>
        <p:nvCxnSpPr>
          <p:cNvPr id="37" name="innov-rule-04"/>
          <p:cNvCxnSpPr/>
          <p:nvPr/>
        </p:nvCxnSpPr>
        <p:spPr>
          <a:xfrm xmlns:a="http://schemas.openxmlformats.org/drawingml/2006/main">
            <a:off x="6191250" y="4114800"/>
            <a:ext cx="4953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8" name="innov-num-04">
            <a:extLst xmlns:a="http://schemas.openxmlformats.org/drawingml/2006/main">
              <a:ext uri="{FF2B5EF4-FFF2-40B4-BE49-F238E27FC236}">
                <a16:creationId xmlns:a16="http://schemas.microsoft.com/office/drawing/2014/main" id="{3372596A-E2FF-4739-AF39-B32A38EF1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24350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7D7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7D7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9" name="innov-title-04">
            <a:extLst xmlns:a="http://schemas.openxmlformats.org/drawingml/2006/main">
              <a:ext uri="{FF2B5EF4-FFF2-40B4-BE49-F238E27FC236}">
                <a16:creationId xmlns:a16="http://schemas.microsoft.com/office/drawing/2014/main" id="{6C582B39-D29C-43BC-9B53-4711C8C91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30530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Demo-safe realism</a:t>
            </a:r>
          </a:p>
        </p:txBody>
      </p:sp>
      <p:sp>
        <p:nvSpPr>
          <p:cNvPr id="20" name="innov-body-04">
            <a:extLst xmlns:a="http://schemas.openxmlformats.org/drawingml/2006/main">
              <a:ext uri="{FF2B5EF4-FFF2-40B4-BE49-F238E27FC236}">
                <a16:creationId xmlns:a16="http://schemas.microsoft.com/office/drawing/2014/main" id="{7EC5A849-4A4F-4C3A-BD7D-1F5845BBA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838700"/>
            <a:ext cx="4095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13" b="0">
                <a:solidFill>
                  <a:srgbClr val="596574"/>
                </a:solidFill>
                <a:latin typeface="Arial"/>
                <a:ea typeface="Arial"/>
                <a:cs typeface="Arial"/>
              </a:defRPr>
            </a:pPr>
            <a:r>
              <a:rPr sz="1613" b="0">
                <a:solidFill>
                  <a:srgbClr val="596574"/>
                </a:solidFill>
                <a:latin typeface="Arial"/>
                <a:ea typeface="Arial"/>
                <a:cs typeface="Arial"/>
              </a:rPr>
              <a:t>Synthetic telemetry, anomaly simulation, provider-shaped fixtures, and separate test oracles enable a credible demonstration.</a:t>
            </a:r>
          </a:p>
        </p:txBody>
      </p:sp>
    </p:spTree>
    <p:extLst>
      <p:ext uri="{BB962C8B-B14F-4D97-AF65-F5344CB8AC3E}">
        <p14:creationId xmlns:p14="http://schemas.microsoft.com/office/powerpoint/2010/main" val="128696430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eyebrow-7">
            <a:extLst xmlns:a="http://schemas.openxmlformats.org/drawingml/2006/main">
              <a:ext uri="{FF2B5EF4-FFF2-40B4-BE49-F238E27FC236}">
                <a16:creationId xmlns:a16="http://schemas.microsoft.com/office/drawing/2014/main" id="{C61459C1-2B2D-40ED-9261-6E0507B01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7D7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7D70"/>
                </a:solidFill>
                <a:latin typeface="Arial"/>
                <a:ea typeface="Arial"/>
                <a:cs typeface="Arial"/>
              </a:rPr>
              <a:t>SCALABILITY FOR FUTURE EXPANSION</a:t>
            </a:r>
          </a:p>
        </p:txBody>
      </p:sp>
      <p:sp>
        <p:nvSpPr>
          <p:cNvPr id="2" name="title-7">
            <a:extLst xmlns:a="http://schemas.openxmlformats.org/drawingml/2006/main">
              <a:ext uri="{FF2B5EF4-FFF2-40B4-BE49-F238E27FC236}">
                <a16:creationId xmlns:a16="http://schemas.microsoft.com/office/drawing/2014/main" id="{9198DF57-1AD6-4DCA-921A-9CD472D8C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11125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Scale by replacing adapters—not the workflow</a:t>
            </a:r>
          </a:p>
        </p:txBody>
      </p:sp>
      <p:cxnSp>
        <p:nvCxnSpPr>
          <p:cNvPr id="21" name="header-rule-7"/>
          <p:cNvCxnSpPr/>
          <p:nvPr/>
        </p:nvCxnSpPr>
        <p:spPr>
          <a:xfrm xmlns:a="http://schemas.openxmlformats.org/drawingml/2006/main">
            <a:off x="533400" y="1485900"/>
            <a:ext cx="111252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B1220"/>
            </a:solidFill>
            <a:prstDash val="solid"/>
          </a:ln>
        </p:spPr>
      </p:cxnSp>
      <p:sp>
        <p:nvSpPr>
          <p:cNvPr id="4" name="page-7">
            <a:extLst xmlns:a="http://schemas.openxmlformats.org/drawingml/2006/main">
              <a:ext uri="{FF2B5EF4-FFF2-40B4-BE49-F238E27FC236}">
                <a16:creationId xmlns:a16="http://schemas.microsoft.com/office/drawing/2014/main" id="{00FCE91A-8E60-4A1D-96F1-ACD580C5E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9657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96574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cxnSp>
        <p:nvCxnSpPr>
          <p:cNvPr id="23" name="scale-line"/>
          <p:cNvCxnSpPr/>
          <p:nvPr/>
        </p:nvCxnSpPr>
        <p:spPr>
          <a:xfrm xmlns:a="http://schemas.openxmlformats.org/drawingml/2006/main">
            <a:off x="990600" y="3238500"/>
            <a:ext cx="9810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B1220"/>
            </a:solidFill>
            <a:prstDash val="solid"/>
          </a:ln>
        </p:spPr>
      </p:cxnSp>
      <p:sp>
        <p:nvSpPr>
          <p:cNvPr id="6" name="scale-dot-0">
            <a:extLst xmlns:a="http://schemas.openxmlformats.org/drawingml/2006/main">
              <a:ext uri="{FF2B5EF4-FFF2-40B4-BE49-F238E27FC236}">
                <a16:creationId xmlns:a16="http://schemas.microsoft.com/office/drawing/2014/main" id="{F5322DC1-517D-48FD-AFD6-30362246E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1432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E0C5"/>
          </a:solidFill>
          <a:ln xmlns:a="http://schemas.openxmlformats.org/drawingml/2006/main" w="0">
            <a:solidFill>
              <a:srgbClr val="39E0C5"/>
            </a:solidFill>
            <a:prstDash val="solid"/>
          </a:ln>
        </p:spPr>
      </p:sp>
      <p:sp>
        <p:nvSpPr>
          <p:cNvPr id="7" name="scale-dot-1">
            <a:extLst xmlns:a="http://schemas.openxmlformats.org/drawingml/2006/main">
              <a:ext uri="{FF2B5EF4-FFF2-40B4-BE49-F238E27FC236}">
                <a16:creationId xmlns:a16="http://schemas.microsoft.com/office/drawing/2014/main" id="{E9056565-8A0C-4EBB-AA19-9EEE65A9A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1432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B1220"/>
            </a:solidFill>
            <a:prstDash val="solid"/>
          </a:ln>
        </p:spPr>
      </p:sp>
      <p:sp>
        <p:nvSpPr>
          <p:cNvPr id="8" name="scale-dot-2">
            <a:extLst xmlns:a="http://schemas.openxmlformats.org/drawingml/2006/main">
              <a:ext uri="{FF2B5EF4-FFF2-40B4-BE49-F238E27FC236}">
                <a16:creationId xmlns:a16="http://schemas.microsoft.com/office/drawing/2014/main" id="{D3011603-490A-4BC1-AD10-D52D933A7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1432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B1220"/>
            </a:solidFill>
            <a:prstDash val="solid"/>
          </a:ln>
        </p:spPr>
      </p:sp>
      <p:sp>
        <p:nvSpPr>
          <p:cNvPr id="9" name="scale-now-label">
            <a:extLst xmlns:a="http://schemas.openxmlformats.org/drawingml/2006/main">
              <a:ext uri="{FF2B5EF4-FFF2-40B4-BE49-F238E27FC236}">
                <a16:creationId xmlns:a16="http://schemas.microsoft.com/office/drawing/2014/main" id="{3BC7C98C-CB66-4B5F-9BA8-22F40CC69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812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7D7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B7D70"/>
                </a:solidFill>
                <a:latin typeface="Arial"/>
                <a:ea typeface="Arial"/>
                <a:cs typeface="Arial"/>
              </a:rPr>
              <a:t>NOW · HACKATHON MVP</a:t>
            </a:r>
          </a:p>
        </p:txBody>
      </p:sp>
      <p:sp>
        <p:nvSpPr>
          <p:cNvPr id="10" name="scale-next-label">
            <a:extLst xmlns:a="http://schemas.openxmlformats.org/drawingml/2006/main">
              <a:ext uri="{FF2B5EF4-FFF2-40B4-BE49-F238E27FC236}">
                <a16:creationId xmlns:a16="http://schemas.microsoft.com/office/drawing/2014/main" id="{837258E5-7DBC-4138-AB14-B10F32736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3812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9657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96574"/>
                </a:solidFill>
                <a:latin typeface="Arial"/>
                <a:ea typeface="Arial"/>
                <a:cs typeface="Arial"/>
              </a:rPr>
              <a:t>NEXT · TRUSTED DATA</a:t>
            </a:r>
          </a:p>
        </p:txBody>
      </p:sp>
      <p:sp>
        <p:nvSpPr>
          <p:cNvPr id="11" name="scale-prod-label">
            <a:extLst xmlns:a="http://schemas.openxmlformats.org/drawingml/2006/main">
              <a:ext uri="{FF2B5EF4-FFF2-40B4-BE49-F238E27FC236}">
                <a16:creationId xmlns:a16="http://schemas.microsoft.com/office/drawing/2014/main" id="{32ABAB12-7D3A-4C97-B383-A00FBBC00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3812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9657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96574"/>
                </a:solidFill>
                <a:latin typeface="Arial"/>
                <a:ea typeface="Arial"/>
                <a:cs typeface="Arial"/>
              </a:rPr>
              <a:t>SCALE · PRODUCTION</a:t>
            </a:r>
          </a:p>
        </p:txBody>
      </p:sp>
      <p:sp>
        <p:nvSpPr>
          <p:cNvPr id="12" name="scale-now-title">
            <a:extLst xmlns:a="http://schemas.openxmlformats.org/drawingml/2006/main">
              <a:ext uri="{FF2B5EF4-FFF2-40B4-BE49-F238E27FC236}">
                <a16:creationId xmlns:a16="http://schemas.microsoft.com/office/drawing/2014/main" id="{7DB701A8-E6ED-4FB5-A0D1-6BEB243F8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5760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Single-process foundation</a:t>
            </a:r>
          </a:p>
        </p:txBody>
      </p:sp>
      <p:sp>
        <p:nvSpPr>
          <p:cNvPr id="13" name="scale-now-body">
            <a:extLst xmlns:a="http://schemas.openxmlformats.org/drawingml/2006/main">
              <a:ext uri="{FF2B5EF4-FFF2-40B4-BE49-F238E27FC236}">
                <a16:creationId xmlns:a16="http://schemas.microsoft.com/office/drawing/2014/main" id="{CC2260BF-50E4-4B40-9C56-BB559FDF9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57700"/>
            <a:ext cx="2857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9657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96574"/>
                </a:solidFill>
                <a:latin typeface="Arial"/>
                <a:ea typeface="Arial"/>
                <a:cs typeface="Arial"/>
              </a:rPr>
              <a:t>React/Vite + FastAPI</a:t>
            </a:r>
          </a:p>
          <a:p xmlns:a="http://schemas.openxmlformats.org/drawingml/2006/main">
            <a:pPr algn="l">
              <a:defRPr sz="1650" b="0">
                <a:solidFill>
                  <a:srgbClr val="59657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96574"/>
                </a:solidFill>
                <a:latin typeface="Arial"/>
                <a:ea typeface="Arial"/>
                <a:cs typeface="Arial"/>
              </a:rPr>
              <a:t>SQLite-backed store</a:t>
            </a:r>
          </a:p>
          <a:p xmlns:a="http://schemas.openxmlformats.org/drawingml/2006/main">
            <a:pPr algn="l">
              <a:defRPr sz="1650" b="0">
                <a:solidFill>
                  <a:srgbClr val="59657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96574"/>
                </a:solidFill>
                <a:latin typeface="Arial"/>
                <a:ea typeface="Arial"/>
                <a:cs typeface="Arial"/>
              </a:rPr>
              <a:t>liteLLM AI features</a:t>
            </a:r>
          </a:p>
        </p:txBody>
      </p:sp>
      <p:sp>
        <p:nvSpPr>
          <p:cNvPr id="14" name="scale-next-title">
            <a:extLst xmlns:a="http://schemas.openxmlformats.org/drawingml/2006/main">
              <a:ext uri="{FF2B5EF4-FFF2-40B4-BE49-F238E27FC236}">
                <a16:creationId xmlns:a16="http://schemas.microsoft.com/office/drawing/2014/main" id="{1987A3B9-6FE7-4B5F-B4A3-178B01246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65760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Raw-first multi-cloud</a:t>
            </a:r>
          </a:p>
        </p:txBody>
      </p:sp>
      <p:sp>
        <p:nvSpPr>
          <p:cNvPr id="15" name="scale-next-body">
            <a:extLst xmlns:a="http://schemas.openxmlformats.org/drawingml/2006/main">
              <a:ext uri="{FF2B5EF4-FFF2-40B4-BE49-F238E27FC236}">
                <a16:creationId xmlns:a16="http://schemas.microsoft.com/office/drawing/2014/main" id="{67D4616B-ACF5-41FC-8723-CE56EA7C9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457700"/>
            <a:ext cx="29527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9657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96574"/>
                </a:solidFill>
                <a:latin typeface="Arial"/>
                <a:ea typeface="Arial"/>
                <a:cs typeface="Arial"/>
              </a:rPr>
              <a:t>AWS, Azure, GCP adapters</a:t>
            </a:r>
          </a:p>
          <a:p xmlns:a="http://schemas.openxmlformats.org/drawingml/2006/main">
            <a:pPr algn="l">
              <a:defRPr sz="1650" b="0">
                <a:solidFill>
                  <a:srgbClr val="59657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96574"/>
                </a:solidFill>
                <a:latin typeface="Arial"/>
                <a:ea typeface="Arial"/>
                <a:cs typeface="Arial"/>
              </a:rPr>
              <a:t>Immutable raw archive</a:t>
            </a:r>
          </a:p>
          <a:p xmlns:a="http://schemas.openxmlformats.org/drawingml/2006/main">
            <a:pPr algn="l">
              <a:defRPr sz="1650" b="0">
                <a:solidFill>
                  <a:srgbClr val="59657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96574"/>
                </a:solidFill>
                <a:latin typeface="Arial"/>
                <a:ea typeface="Arial"/>
                <a:cs typeface="Arial"/>
              </a:rPr>
              <a:t>Versioned normalization + replay</a:t>
            </a:r>
          </a:p>
        </p:txBody>
      </p:sp>
      <p:sp>
        <p:nvSpPr>
          <p:cNvPr id="16" name="scale-prod-title">
            <a:extLst xmlns:a="http://schemas.openxmlformats.org/drawingml/2006/main">
              <a:ext uri="{FF2B5EF4-FFF2-40B4-BE49-F238E27FC236}">
                <a16:creationId xmlns:a16="http://schemas.microsoft.com/office/drawing/2014/main" id="{E8FAE41A-24AF-4F49-AFBA-B7EE97BCC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657600"/>
            <a:ext cx="314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Durable operating model</a:t>
            </a:r>
          </a:p>
        </p:txBody>
      </p:sp>
      <p:sp>
        <p:nvSpPr>
          <p:cNvPr id="17" name="scale-prod-body">
            <a:extLst xmlns:a="http://schemas.openxmlformats.org/drawingml/2006/main">
              <a:ext uri="{FF2B5EF4-FFF2-40B4-BE49-F238E27FC236}">
                <a16:creationId xmlns:a16="http://schemas.microsoft.com/office/drawing/2014/main" id="{6868FE92-EECD-42FB-8610-8BEB7B7DF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457700"/>
            <a:ext cx="31432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9657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96574"/>
                </a:solidFill>
                <a:latin typeface="Arial"/>
                <a:ea typeface="Arial"/>
                <a:cs typeface="Arial"/>
              </a:rPr>
              <a:t>Object storage + workers</a:t>
            </a:r>
          </a:p>
          <a:p xmlns:a="http://schemas.openxmlformats.org/drawingml/2006/main">
            <a:pPr algn="l">
              <a:defRPr sz="1650" b="0">
                <a:solidFill>
                  <a:srgbClr val="59657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96574"/>
                </a:solidFill>
                <a:latin typeface="Arial"/>
                <a:ea typeface="Arial"/>
                <a:cs typeface="Arial"/>
              </a:rPr>
              <a:t>Durable database</a:t>
            </a:r>
          </a:p>
          <a:p xmlns:a="http://schemas.openxmlformats.org/drawingml/2006/main">
            <a:pPr algn="l">
              <a:defRPr sz="1650" b="0">
                <a:solidFill>
                  <a:srgbClr val="59657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96574"/>
                </a:solidFill>
                <a:latin typeface="Arial"/>
                <a:ea typeface="Arial"/>
                <a:cs typeface="Arial"/>
              </a:rPr>
              <a:t>Auth, tenancy, retention, observability</a:t>
            </a:r>
          </a:p>
        </p:txBody>
      </p:sp>
      <p:sp>
        <p:nvSpPr>
          <p:cNvPr id="18" name="scale-principle">
            <a:extLst xmlns:a="http://schemas.openxmlformats.org/drawingml/2006/main">
              <a:ext uri="{FF2B5EF4-FFF2-40B4-BE49-F238E27FC236}">
                <a16:creationId xmlns:a16="http://schemas.microsoft.com/office/drawing/2014/main" id="{D6977BDA-52E0-43FF-9350-509DCEAB0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886450"/>
            <a:ext cx="1000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13" b="1">
                <a:solidFill>
                  <a:srgbClr val="0B7D70"/>
                </a:solidFill>
                <a:latin typeface="Arial"/>
                <a:ea typeface="Arial"/>
                <a:cs typeface="Arial"/>
              </a:defRPr>
            </a:pPr>
            <a:r>
              <a:rPr sz="1613" b="1">
                <a:solidFill>
                  <a:srgbClr val="0B7D70"/>
                </a:solidFill>
                <a:latin typeface="Arial"/>
                <a:ea typeface="Arial"/>
                <a:cs typeface="Arial"/>
              </a:rPr>
              <a:t>Stable contracts preserve the same evidence dossier, policy trace, and analyst experience as infrastructure evolves.</a:t>
            </a:r>
          </a:p>
        </p:txBody>
      </p:sp>
    </p:spTree>
    <p:extLst>
      <p:ext uri="{BB962C8B-B14F-4D97-AF65-F5344CB8AC3E}">
        <p14:creationId xmlns:p14="http://schemas.microsoft.com/office/powerpoint/2010/main" val="51912859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close-eyebrow">
            <a:extLst xmlns:a="http://schemas.openxmlformats.org/drawingml/2006/main">
              <a:ext uri="{FF2B5EF4-FFF2-40B4-BE49-F238E27FC236}">
                <a16:creationId xmlns:a16="http://schemas.microsoft.com/office/drawing/2014/main" id="{D3F5F9DA-E79D-4A23-A190-0A961CB4C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7D7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7D70"/>
                </a:solidFill>
                <a:latin typeface="Arial"/>
                <a:ea typeface="Arial"/>
                <a:cs typeface="Arial"/>
              </a:rPr>
              <a:t>WHY SENTINEL ACCESS</a:t>
            </a:r>
          </a:p>
        </p:txBody>
      </p:sp>
      <p:sp>
        <p:nvSpPr>
          <p:cNvPr id="2" name="close-title">
            <a:extLst xmlns:a="http://schemas.openxmlformats.org/drawingml/2006/main">
              <a:ext uri="{FF2B5EF4-FFF2-40B4-BE49-F238E27FC236}">
                <a16:creationId xmlns:a16="http://schemas.microsoft.com/office/drawing/2014/main" id="{B5DBC401-E34B-4804-A2C4-29F3A3BF6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00150"/>
            <a:ext cx="7620000" cy="1924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50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5025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From noisy access logs</a:t>
            </a:r>
          </a:p>
          <a:p xmlns:a="http://schemas.openxmlformats.org/drawingml/2006/main">
            <a:pPr algn="l">
              <a:defRPr sz="50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5025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to explainable action.</a:t>
            </a:r>
          </a:p>
        </p:txBody>
      </p:sp>
      <p:cxnSp>
        <p:nvCxnSpPr>
          <p:cNvPr id="14" name="close-main-rule"/>
          <p:cNvCxnSpPr/>
          <p:nvPr/>
        </p:nvCxnSpPr>
        <p:spPr>
          <a:xfrm xmlns:a="http://schemas.openxmlformats.org/drawingml/2006/main">
            <a:off x="533400" y="3505200"/>
            <a:ext cx="111252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B1220"/>
            </a:solidFill>
            <a:prstDash val="solid"/>
          </a:ln>
        </p:spPr>
      </p:cxnSp>
      <p:sp>
        <p:nvSpPr>
          <p:cNvPr id="4" name="close-tag-0">
            <a:extLst xmlns:a="http://schemas.openxmlformats.org/drawingml/2006/main">
              <a:ext uri="{FF2B5EF4-FFF2-40B4-BE49-F238E27FC236}">
                <a16:creationId xmlns:a16="http://schemas.microsoft.com/office/drawing/2014/main" id="{7D0A9ACC-BF05-465F-ADCD-351C515AA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052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7D7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7D70"/>
                </a:solidFill>
                <a:latin typeface="Arial"/>
                <a:ea typeface="Arial"/>
                <a:cs typeface="Arial"/>
              </a:rPr>
              <a:t>BUILT</a:t>
            </a:r>
          </a:p>
        </p:txBody>
      </p:sp>
      <p:sp>
        <p:nvSpPr>
          <p:cNvPr id="5" name="close-copy-0">
            <a:extLst xmlns:a="http://schemas.openxmlformats.org/drawingml/2006/main">
              <a:ext uri="{FF2B5EF4-FFF2-40B4-BE49-F238E27FC236}">
                <a16:creationId xmlns:a16="http://schemas.microsoft.com/office/drawing/2014/main" id="{65C36EB5-5B4C-4E04-9755-ACC82C297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886200"/>
            <a:ext cx="8858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88" b="0">
                <a:solidFill>
                  <a:srgbClr val="596574"/>
                </a:solidFill>
                <a:latin typeface="Arial"/>
                <a:ea typeface="Arial"/>
                <a:cs typeface="Arial"/>
              </a:defRPr>
            </a:pPr>
            <a:r>
              <a:rPr sz="1688" b="0">
                <a:solidFill>
                  <a:srgbClr val="596574"/>
                </a:solidFill>
                <a:latin typeface="Arial"/>
                <a:ea typeface="Arial"/>
                <a:cs typeface="Arial"/>
              </a:rPr>
              <a:t>A working analyst experience with FastAPI, SQLite, AI explanations, copilot search, and narrative reports.</a:t>
            </a:r>
          </a:p>
        </p:txBody>
      </p:sp>
      <p:sp>
        <p:nvSpPr>
          <p:cNvPr id="6" name="close-tag-1">
            <a:extLst xmlns:a="http://schemas.openxmlformats.org/drawingml/2006/main">
              <a:ext uri="{FF2B5EF4-FFF2-40B4-BE49-F238E27FC236}">
                <a16:creationId xmlns:a16="http://schemas.microsoft.com/office/drawing/2014/main" id="{38E4E0CC-5F04-433F-BDDF-CC37307E3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863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7D7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7D70"/>
                </a:solidFill>
                <a:latin typeface="Arial"/>
                <a:ea typeface="Arial"/>
                <a:cs typeface="Arial"/>
              </a:rPr>
              <a:t>TRUSTED</a:t>
            </a:r>
          </a:p>
        </p:txBody>
      </p:sp>
      <p:sp>
        <p:nvSpPr>
          <p:cNvPr id="7" name="close-copy-1">
            <a:extLst xmlns:a="http://schemas.openxmlformats.org/drawingml/2006/main">
              <a:ext uri="{FF2B5EF4-FFF2-40B4-BE49-F238E27FC236}">
                <a16:creationId xmlns:a16="http://schemas.microsoft.com/office/drawing/2014/main" id="{184C2CC6-A444-4DA5-A492-058E0AEA8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667250"/>
            <a:ext cx="8858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88" b="0">
                <a:solidFill>
                  <a:srgbClr val="596574"/>
                </a:solidFill>
                <a:latin typeface="Arial"/>
                <a:ea typeface="Arial"/>
                <a:cs typeface="Arial"/>
              </a:defRPr>
            </a:pPr>
            <a:r>
              <a:rPr sz="1688" b="0">
                <a:solidFill>
                  <a:srgbClr val="596574"/>
                </a:solidFill>
                <a:latin typeface="Arial"/>
                <a:ea typeface="Arial"/>
                <a:cs typeface="Arial"/>
              </a:rPr>
              <a:t>A policy-first risk design that keeps AI bounded, validated, evidence-grounded, and fail-safe.</a:t>
            </a:r>
          </a:p>
        </p:txBody>
      </p:sp>
      <p:sp>
        <p:nvSpPr>
          <p:cNvPr id="8" name="close-tag-2">
            <a:extLst xmlns:a="http://schemas.openxmlformats.org/drawingml/2006/main">
              <a:ext uri="{FF2B5EF4-FFF2-40B4-BE49-F238E27FC236}">
                <a16:creationId xmlns:a16="http://schemas.microsoft.com/office/drawing/2014/main" id="{6CFD1B90-4F09-4D57-B18E-0F75EA654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673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7D7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7D70"/>
                </a:solidFill>
                <a:latin typeface="Arial"/>
                <a:ea typeface="Arial"/>
                <a:cs typeface="Arial"/>
              </a:rPr>
              <a:t>EXTENSIBLE</a:t>
            </a:r>
          </a:p>
        </p:txBody>
      </p:sp>
      <p:sp>
        <p:nvSpPr>
          <p:cNvPr id="9" name="close-copy-2">
            <a:extLst xmlns:a="http://schemas.openxmlformats.org/drawingml/2006/main">
              <a:ext uri="{FF2B5EF4-FFF2-40B4-BE49-F238E27FC236}">
                <a16:creationId xmlns:a16="http://schemas.microsoft.com/office/drawing/2014/main" id="{2ACE2BB9-2CCF-4EB1-9253-A8D5B0D5D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5448300"/>
            <a:ext cx="8858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88" b="0">
                <a:solidFill>
                  <a:srgbClr val="596574"/>
                </a:solidFill>
                <a:latin typeface="Arial"/>
                <a:ea typeface="Arial"/>
                <a:cs typeface="Arial"/>
              </a:defRPr>
            </a:pPr>
            <a:r>
              <a:rPr sz="1688" b="0">
                <a:solidFill>
                  <a:srgbClr val="596574"/>
                </a:solidFill>
                <a:latin typeface="Arial"/>
                <a:ea typeface="Arial"/>
                <a:cs typeface="Arial"/>
              </a:rPr>
              <a:t>A raw-first three-cloud ingestion path that can grow behind stable contracts and adapter boundaries.</a:t>
            </a:r>
          </a:p>
        </p:txBody>
      </p:sp>
      <p:sp>
        <p:nvSpPr>
          <p:cNvPr id="10" name="close-accent">
            <a:extLst xmlns:a="http://schemas.openxmlformats.org/drawingml/2006/main">
              <a:ext uri="{FF2B5EF4-FFF2-40B4-BE49-F238E27FC236}">
                <a16:creationId xmlns:a16="http://schemas.microsoft.com/office/drawing/2014/main" id="{DC534872-5D54-45ED-A4AD-CEC4C422A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838200"/>
            <a:ext cx="15811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E0C5"/>
          </a:solidFill>
          <a:ln xmlns:a="http://schemas.openxmlformats.org/drawingml/2006/main" w="0">
            <a:solidFill>
              <a:srgbClr val="39E0C5"/>
            </a:solidFill>
            <a:prstDash val="solid"/>
          </a:ln>
        </p:spPr>
      </p:sp>
      <p:sp>
        <p:nvSpPr>
          <p:cNvPr id="11" name="close-accent-text">
            <a:extLst xmlns:a="http://schemas.openxmlformats.org/drawingml/2006/main">
              <a:ext uri="{FF2B5EF4-FFF2-40B4-BE49-F238E27FC236}">
                <a16:creationId xmlns:a16="http://schemas.microsoft.com/office/drawing/2014/main" id="{04575A0A-15D2-4771-803A-9032F8322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1066800"/>
            <a:ext cx="12001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SIGNAL</a:t>
            </a:r>
          </a:p>
          <a:p xmlns:a="http://schemas.openxmlformats.org/drawingml/2006/main">
            <a:pPr algn="ctr">
              <a:defRPr sz="165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→</a:t>
            </a:r>
          </a:p>
          <a:p xmlns:a="http://schemas.openxmlformats.org/drawingml/2006/main">
            <a:pPr algn="ctr">
              <a:defRPr sz="165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DECISION</a:t>
            </a:r>
          </a:p>
        </p:txBody>
      </p:sp>
    </p:spTree>
    <p:extLst>
      <p:ext uri="{BB962C8B-B14F-4D97-AF65-F5344CB8AC3E}">
        <p14:creationId xmlns:p14="http://schemas.microsoft.com/office/powerpoint/2010/main" val="189295366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2026-08-18T06:57:43.1810000Z</dcterms:created>
  <dcterms:modified xsi:type="dcterms:W3CDTF">2026-08-18T06:57:43.1810000Z</dcterms:modified>
</coreProperties>
</file>