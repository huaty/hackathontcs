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eef8f53be242d1" /><Relationship Type="http://schemas.openxmlformats.org/officeDocument/2006/relationships/extended-properties" Target="/docProps/app.xml" Id="R00df4ac7763b44b4" /><Relationship Type="http://schemas.openxmlformats.org/officeDocument/2006/relationships/officeDocument" Target="/ppt/presentation.xml" Id="R60039d6dc2f447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e657d0cd934537"/>
  </p:sldMasterIdLst>
  <p:notesMasterIdLst>
    <p:notesMasterId xmlns:r="http://schemas.openxmlformats.org/officeDocument/2006/relationships" r:id="R68876bd740264372"/>
  </p:notesMasterIdLst>
  <p:sldIdLst>
    <p:sldId xmlns:r="http://schemas.openxmlformats.org/officeDocument/2006/relationships" id="256" r:id="R9ccf2c4a63f249ea"/>
    <p:sldId xmlns:r="http://schemas.openxmlformats.org/officeDocument/2006/relationships" id="257" r:id="R1da088adf1674fa4"/>
    <p:sldId xmlns:r="http://schemas.openxmlformats.org/officeDocument/2006/relationships" id="258" r:id="R09df2b80309e497c"/>
    <p:sldId xmlns:r="http://schemas.openxmlformats.org/officeDocument/2006/relationships" id="259" r:id="Rf80cf73921e94102"/>
    <p:sldId xmlns:r="http://schemas.openxmlformats.org/officeDocument/2006/relationships" id="260" r:id="R305f650655ae416f"/>
    <p:sldId xmlns:r="http://schemas.openxmlformats.org/officeDocument/2006/relationships" id="261" r:id="R0125b91526a4400a"/>
    <p:sldId xmlns:r="http://schemas.openxmlformats.org/officeDocument/2006/relationships" id="262" r:id="Rbc45d3cdc9aa44de"/>
    <p:sldId xmlns:r="http://schemas.openxmlformats.org/officeDocument/2006/relationships" id="263" r:id="Rb3421c17c35046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215a1dc294172" /><Relationship Type="http://schemas.openxmlformats.org/officeDocument/2006/relationships/slideMaster" Target="/ppt/slideMasters/slideMaster1.xml" Id="R8fe657d0cd934537" /><Relationship Type="http://schemas.openxmlformats.org/officeDocument/2006/relationships/notesMaster" Target="/ppt/notesMasters/notesMaster1.xml" Id="R68876bd740264372" /><Relationship Type="http://schemas.openxmlformats.org/officeDocument/2006/relationships/presProps" Target="/ppt/presProps.xml" Id="R79ea3ea6ab474d8a" /><Relationship Type="http://schemas.openxmlformats.org/officeDocument/2006/relationships/tableStyles" Target="/ppt/tableStyles.xml" Id="R5d50039c70d949db" /><Relationship Type="http://schemas.openxmlformats.org/officeDocument/2006/relationships/slide" Target="/ppt/slides/slide1.xml" Id="R9ccf2c4a63f249ea" /><Relationship Type="http://schemas.openxmlformats.org/officeDocument/2006/relationships/slide" Target="/ppt/slides/slide2.xml" Id="R1da088adf1674fa4" /><Relationship Type="http://schemas.openxmlformats.org/officeDocument/2006/relationships/slide" Target="/ppt/slides/slide3.xml" Id="R09df2b80309e497c" /><Relationship Type="http://schemas.openxmlformats.org/officeDocument/2006/relationships/slide" Target="/ppt/slides/slide4.xml" Id="Rf80cf73921e94102" /><Relationship Type="http://schemas.openxmlformats.org/officeDocument/2006/relationships/slide" Target="/ppt/slides/slide5.xml" Id="R305f650655ae416f" /><Relationship Type="http://schemas.openxmlformats.org/officeDocument/2006/relationships/slide" Target="/ppt/slides/slide6.xml" Id="R0125b91526a4400a" /><Relationship Type="http://schemas.openxmlformats.org/officeDocument/2006/relationships/slide" Target="/ppt/slides/slide7.xml" Id="Rbc45d3cdc9aa44de" /><Relationship Type="http://schemas.openxmlformats.org/officeDocument/2006/relationships/slide" Target="/ppt/slides/slide8.xml" Id="Rb3421c17c35046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99675f2a7d45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4ea88dc2914330" /><Relationship Type="http://schemas.openxmlformats.org/officeDocument/2006/relationships/notesMaster" Target="/ppt/notesMasters/notesMaster1.xml" Id="R3d7985e527e2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df14033bda4205" /><Relationship Type="http://schemas.openxmlformats.org/officeDocument/2006/relationships/notesMaster" Target="/ppt/notesMasters/notesMaster1.xml" Id="R300488b6578440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5266350aae4f69" /><Relationship Type="http://schemas.openxmlformats.org/officeDocument/2006/relationships/notesMaster" Target="/ppt/notesMasters/notesMaster1.xml" Id="R073817b81b37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fb0a03680b4fff" /><Relationship Type="http://schemas.openxmlformats.org/officeDocument/2006/relationships/notesMaster" Target="/ppt/notesMasters/notesMaster1.xml" Id="R86f93f2f7a274c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43691de7fe4cd7" /><Relationship Type="http://schemas.openxmlformats.org/officeDocument/2006/relationships/notesMaster" Target="/ppt/notesMasters/notesMaster1.xml" Id="R6f4d6eb466a842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b8a9f6d4e54371" /><Relationship Type="http://schemas.openxmlformats.org/officeDocument/2006/relationships/notesMaster" Target="/ppt/notesMasters/notesMaster1.xml" Id="R66d06bd4e1e142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0c57dbc4774ea2" /><Relationship Type="http://schemas.openxmlformats.org/officeDocument/2006/relationships/notesMaster" Target="/ppt/notesMasters/notesMaster1.xml" Id="Rc57d46946d9245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2e7359965b48ee" /><Relationship Type="http://schemas.openxmlformats.org/officeDocument/2006/relationships/notesMaster" Target="/ppt/notesMasters/notesMaster1.xml" Id="R51a364aeab674e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sentinel-access/CONTEXT.md</a:t>
            </a:r>
          </a:p>
          <a:p xmlns:a="http://schemas.openxmlformats.org/drawingml/2006/main">
            <a:r>
              <a:t>- sentinel-access/ideas.md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sentinel-access/CONTEXT.md</a:t>
            </a:r>
          </a:p>
          <a:p xmlns:a="http://schemas.openxmlformats.org/drawingml/2006/main">
            <a:r>
              <a:t>- specs/004-contextual-risk-scoring/spec.md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sentinel-access/backend/app/routers/datasets.py</a:t>
            </a:r>
          </a:p>
          <a:p xmlns:a="http://schemas.openxmlformats.org/drawingml/2006/main">
            <a:r>
              <a:t>- sentinel-access/backend/app/routers/command_center.py</a:t>
            </a:r>
          </a:p>
          <a:p xmlns:a="http://schemas.openxmlformats.org/drawingml/2006/main">
            <a:r>
              <a:t>- specs/004-contextual-risk-scoring/spec.md</a:t>
            </a:r>
          </a:p>
          <a:p xmlns:a="http://schemas.openxmlformats.org/drawingml/2006/main">
            <a:r>
              <a:t>- specs/005-cloud-log-ingestion/plan.md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sentinel-access/package.json</a:t>
            </a:r>
          </a:p>
          <a:p xmlns:a="http://schemas.openxmlformats.org/drawingml/2006/main">
            <a:r>
              <a:t>- sentinel-access/backend/app/main.py</a:t>
            </a:r>
          </a:p>
          <a:p xmlns:a="http://schemas.openxmlformats.org/drawingml/2006/main">
            <a:r>
              <a:t>- sentinel-access/backend/app/db.py</a:t>
            </a:r>
          </a:p>
          <a:p xmlns:a="http://schemas.openxmlformats.org/drawingml/2006/main">
            <a:r>
              <a:t>- sentinel-access/backend/app/ai_client.py</a:t>
            </a:r>
          </a:p>
          <a:p xmlns:a="http://schemas.openxmlformats.org/drawingml/2006/main">
            <a:r>
              <a:t>- sentinel-access/client/src/lib/api.ts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sentinel-access/backend/app/routers/command_center.py</a:t>
            </a:r>
          </a:p>
          <a:p xmlns:a="http://schemas.openxmlformats.org/drawingml/2006/main">
            <a:r>
              <a:t>- sentinel-access/backend/app/routers/copilot.py</a:t>
            </a:r>
          </a:p>
          <a:p xmlns:a="http://schemas.openxmlformats.org/drawingml/2006/main">
            <a:r>
              <a:t>- sentinel-access/backend/app/routers/reports.py</a:t>
            </a:r>
          </a:p>
          <a:p xmlns:a="http://schemas.openxmlformats.org/drawingml/2006/main">
            <a:r>
              <a:t>- specs/004-contextual-risk-scoring/spec.md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sentinel-access/ideas.md</a:t>
            </a:r>
          </a:p>
          <a:p xmlns:a="http://schemas.openxmlformats.org/drawingml/2006/main">
            <a:r>
              <a:t>- sentinel-access/CONTEXT.md</a:t>
            </a:r>
          </a:p>
          <a:p xmlns:a="http://schemas.openxmlformats.org/drawingml/2006/main">
            <a:r>
              <a:t>- specs/004-contextual-risk-scoring/spec.md</a:t>
            </a:r>
          </a:p>
          <a:p xmlns:a="http://schemas.openxmlformats.org/drawingml/2006/main">
            <a:r>
              <a:t>- specs/005-cloud-log-ingestion/spec.md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specs/005-cloud-log-ingestion/plan.md</a:t>
            </a:r>
          </a:p>
          <a:p xmlns:a="http://schemas.openxmlformats.org/drawingml/2006/main">
            <a:r>
              <a:t>- specs/004-contextual-risk-scoring/plan.md</a:t>
            </a:r>
          </a:p>
          <a:p xmlns:a="http://schemas.openxmlformats.org/drawingml/2006/main">
            <a:r>
              <a:t>- specs/003-sqlite-storage/plan.md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sentinel-access/backend/app/main.py</a:t>
            </a:r>
          </a:p>
          <a:p xmlns:a="http://schemas.openxmlformats.org/drawingml/2006/main">
            <a:r>
              <a:t>- sentinel-access/backend/app/routers/copilot.py</a:t>
            </a:r>
          </a:p>
          <a:p xmlns:a="http://schemas.openxmlformats.org/drawingml/2006/main">
            <a:r>
              <a:t>- specs/004-contextual-risk-scoring/spec.md</a:t>
            </a:r>
          </a:p>
          <a:p xmlns:a="http://schemas.openxmlformats.org/drawingml/2006/main">
            <a:r>
              <a:t>- specs/005-cloud-log-ingestion/plan.md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0fa8fd81e44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08a6ff1bed457a" /><Relationship Type="http://schemas.openxmlformats.org/officeDocument/2006/relationships/slideLayout" Target="/ppt/slideLayouts/slideLayout1.xml" Id="Rfe7c861c9ee34a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c861c9ee34a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ffcedf5474998" /><Relationship Type="http://schemas.openxmlformats.org/officeDocument/2006/relationships/notesSlide" Target="/ppt/notesSlides/notesSlide1.xml" Id="Rbc25e2ad1f2c4a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d7e968f494184" /><Relationship Type="http://schemas.openxmlformats.org/officeDocument/2006/relationships/notesSlide" Target="/ppt/notesSlides/notesSlide2.xml" Id="R776890f2a1584d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8bf731952461f" /><Relationship Type="http://schemas.openxmlformats.org/officeDocument/2006/relationships/notesSlide" Target="/ppt/notesSlides/notesSlide3.xml" Id="Rdf885a185ab243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a8537cabc42b3" /><Relationship Type="http://schemas.openxmlformats.org/officeDocument/2006/relationships/notesSlide" Target="/ppt/notesSlides/notesSlide4.xml" Id="Rf649e220a7c94b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157865f47427e" /><Relationship Type="http://schemas.openxmlformats.org/officeDocument/2006/relationships/notesSlide" Target="/ppt/notesSlides/notesSlide5.xml" Id="Re4ad2d72404549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627a1047d4576" /><Relationship Type="http://schemas.openxmlformats.org/officeDocument/2006/relationships/notesSlide" Target="/ppt/notesSlides/notesSlide6.xml" Id="R9b4455bec61d41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f57de3913493f" /><Relationship Type="http://schemas.openxmlformats.org/officeDocument/2006/relationships/notesSlide" Target="/ppt/notesSlides/notesSlide7.xml" Id="R1165df32abbe45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d08047ffb4b97" /><Relationship Type="http://schemas.openxmlformats.org/officeDocument/2006/relationships/notesSlide" Target="/ppt/notesSlides/notesSlide8.xml" Id="R6c6c9a27634944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1180566-08A1-4AD0-B00D-85C68694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HACKATHON PROJECT · CLOUD ACCESS SECURITY</a:t>
            </a:r>
          </a:p>
        </p:txBody>
      </p:sp>
      <p:sp>
        <p:nvSpPr>
          <p:cNvPr id="2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C79EF1A2-AD06-4FC0-8320-B3FB6300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714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7419A5D-46B2-4E55-BDC6-34F54A80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00150"/>
            <a:ext cx="61912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Sentinel</a:t>
            </a:r>
          </a:p>
          <a:p xmlns:a="http://schemas.openxmlformats.org/drawingml/2006/main">
            <a:pPr algn="l">
              <a:defRPr sz="6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E584A19-CBBD-4BDA-8D70-5B1BA342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6381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Explainable cloud-access decisions</a:t>
            </a:r>
          </a:p>
          <a:p xmlns:a="http://schemas.openxmlformats.org/drawingml/2006/main">
            <a:pPr algn="l">
              <a:defRPr sz="240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for lean security teams</a:t>
            </a:r>
          </a:p>
        </p:txBody>
      </p:sp>
      <p:cxnSp>
        <p:nvCxnSpPr>
          <p:cNvPr id="14" name="cover-rule"/>
          <p:cNvCxnSpPr/>
          <p:nvPr/>
        </p:nvCxnSpPr>
        <p:spPr>
          <a:xfrm xmlns:a="http://schemas.openxmlformats.org/drawingml/2006/main">
            <a:off x="7810500" y="1200150"/>
            <a:ext cx="339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6" name="cover-principle-1">
            <a:extLst xmlns:a="http://schemas.openxmlformats.org/drawingml/2006/main">
              <a:ext uri="{FF2B5EF4-FFF2-40B4-BE49-F238E27FC236}">
                <a16:creationId xmlns:a16="http://schemas.microsoft.com/office/drawing/2014/main" id="{A324B7D0-971C-419F-A5B0-4620D6A9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7" name="cover-principle-2">
            <a:extLst xmlns:a="http://schemas.openxmlformats.org/drawingml/2006/main">
              <a:ext uri="{FF2B5EF4-FFF2-40B4-BE49-F238E27FC236}">
                <a16:creationId xmlns:a16="http://schemas.microsoft.com/office/drawing/2014/main" id="{B7F80A97-5D1E-49C9-8313-6CD4C70C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" name="cover-principle-3">
            <a:extLst xmlns:a="http://schemas.openxmlformats.org/drawingml/2006/main">
              <a:ext uri="{FF2B5EF4-FFF2-40B4-BE49-F238E27FC236}">
                <a16:creationId xmlns:a16="http://schemas.microsoft.com/office/drawing/2014/main" id="{6E7CDE42-628C-442E-8D32-96A3A441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FE164F54-FCC1-4184-948D-7737A206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3390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Noisy activity is reduced into prioritized findings, plain-language rationale, and an auditable path to action.</a:t>
            </a:r>
          </a:p>
        </p:txBody>
      </p:sp>
    </p:spTree>
    <p:extLst>
      <p:ext uri="{BB962C8B-B14F-4D97-AF65-F5344CB8AC3E}">
        <p14:creationId xmlns:p14="http://schemas.microsoft.com/office/powerpoint/2010/main" val="1738590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9105EA7C-8FF4-4506-8271-1A125EAD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5266BE0-ED5B-4A8C-9D47-9D357BA5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Cloud access produces alerts—not decisions</a:t>
            </a:r>
          </a:p>
        </p:txBody>
      </p:sp>
      <p:cxnSp>
        <p:nvCxnSpPr>
          <p:cNvPr id="21" name="header-rule-2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68946B1-B84C-4C42-93ED-92B5B6DA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1920AD75-24DB-4824-A0B7-A191A861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Security teams have signals.</a:t>
            </a:r>
          </a:p>
          <a:p xmlns:a="http://schemas.openxmlformats.org/drawingml/2006/main">
            <a:pPr algn="l"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What they need is</a:t>
            </a:r>
          </a:p>
          <a:p xmlns:a="http://schemas.openxmlformats.org/drawingml/2006/main">
            <a:pPr algn="l"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decision-ready context.</a:t>
            </a:r>
          </a:p>
        </p:txBody>
      </p:sp>
      <p:sp>
        <p:nvSpPr>
          <p:cNvPr id="6" name="problem-support">
            <a:extLst xmlns:a="http://schemas.openxmlformats.org/drawingml/2006/main">
              <a:ext uri="{FF2B5EF4-FFF2-40B4-BE49-F238E27FC236}">
                <a16:creationId xmlns:a16="http://schemas.microsoft.com/office/drawing/2014/main" id="{EC295DEF-1784-445B-85D2-6B6541C0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lean team must connect identity, baseline behavior, cloud action, and business impact before it can explain what matters and act confidently.</a:t>
            </a:r>
          </a:p>
        </p:txBody>
      </p:sp>
      <p:cxnSp>
        <p:nvCxnSpPr>
          <p:cNvPr id="25" name="problem-rule-0"/>
          <p:cNvCxnSpPr/>
          <p:nvPr/>
        </p:nvCxnSpPr>
        <p:spPr>
          <a:xfrm xmlns:a="http://schemas.openxmlformats.org/drawingml/2006/main">
            <a:off x="6419850" y="17907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E0C5"/>
            </a:solidFill>
            <a:prstDash val="solid"/>
          </a:ln>
        </p:spPr>
      </p:cxnSp>
      <p:sp>
        <p:nvSpPr>
          <p:cNvPr id="8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5A099A54-F6CE-4EFE-AD33-BFF3E1F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A039A168-78C1-4C35-B8B4-999EE613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62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Fragmented telemetry</a:t>
            </a:r>
          </a:p>
        </p:txBody>
      </p:sp>
      <p:sp>
        <p:nvSpPr>
          <p:cNvPr id="10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8D716A63-34B2-4F03-89FD-DEFFE0DA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Cloud and identity events arrive in different shapes and lose their lineage.</a:t>
            </a:r>
          </a:p>
        </p:txBody>
      </p:sp>
      <p:cxnSp>
        <p:nvCxnSpPr>
          <p:cNvPr id="29" name="problem-rule-1"/>
          <p:cNvCxnSpPr/>
          <p:nvPr/>
        </p:nvCxnSpPr>
        <p:spPr>
          <a:xfrm xmlns:a="http://schemas.openxmlformats.org/drawingml/2006/main">
            <a:off x="6419850" y="30861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8D811D70-9D7C-415F-9FBE-D13E28A3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DDFF0352-C59D-4969-9016-1448ECFD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Opaque prioritization</a:t>
            </a:r>
          </a:p>
        </p:txBody>
      </p:sp>
      <p:sp>
        <p:nvSpPr>
          <p:cNvPr id="14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78E4DDDE-91DC-40A4-8085-20BAECB0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957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score without matched evidence is difficult to trust, defend, or tune.</a:t>
            </a:r>
          </a:p>
        </p:txBody>
      </p:sp>
      <p:cxnSp>
        <p:nvCxnSpPr>
          <p:cNvPr id="33" name="problem-rule-2"/>
          <p:cNvCxnSpPr/>
          <p:nvPr/>
        </p:nvCxnSpPr>
        <p:spPr>
          <a:xfrm xmlns:a="http://schemas.openxmlformats.org/drawingml/2006/main">
            <a:off x="6419850" y="43815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0F7C375F-070F-4D99-8759-98EE7380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C1F19F9C-110E-4CDA-8405-1718F24D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 investigation</a:t>
            </a:r>
          </a:p>
        </p:txBody>
      </p:sp>
      <p:sp>
        <p:nvSpPr>
          <p:cNvPr id="1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74946621-F881-4BDE-BD34-4A08C734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Analysts jump between filters, raw logs, and reports before choosing an action.</a:t>
            </a:r>
          </a:p>
        </p:txBody>
      </p:sp>
    </p:spTree>
    <p:extLst>
      <p:ext uri="{BB962C8B-B14F-4D97-AF65-F5344CB8AC3E}">
        <p14:creationId xmlns:p14="http://schemas.microsoft.com/office/powerpoint/2010/main" val="1637239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3">
            <a:extLst xmlns:a="http://schemas.openxmlformats.org/drawingml/2006/main">
              <a:ext uri="{FF2B5EF4-FFF2-40B4-BE49-F238E27FC236}">
                <a16:creationId xmlns:a16="http://schemas.microsoft.com/office/drawing/2014/main" id="{E961D481-BA2A-486C-A50B-F76A75A7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APPROACH &amp; SOLUTION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8DDE826-F5E1-45DF-A71E-CDCDD26D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Our approach makes every decision traceable</a:t>
            </a:r>
          </a:p>
        </p:txBody>
      </p:sp>
      <p:cxnSp>
        <p:nvCxnSpPr>
          <p:cNvPr id="29" name="header-rule-3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40760D9-673C-4824-91FD-33D65236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1" name="solution-link-0"/>
          <p:cNvCxnSpPr/>
          <p:nvPr/>
        </p:nvCxnSpPr>
        <p:spPr>
          <a:xfrm xmlns:a="http://schemas.openxmlformats.org/drawingml/2006/main">
            <a:off x="2876550" y="33528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7D70"/>
            </a:solidFill>
            <a:prstDash val="solid"/>
          </a:ln>
        </p:spPr>
      </p:cxnSp>
      <p:sp>
        <p:nvSpPr>
          <p:cNvPr id="6" name="solution-chevron-0">
            <a:extLst xmlns:a="http://schemas.openxmlformats.org/drawingml/2006/main">
              <a:ext uri="{FF2B5EF4-FFF2-40B4-BE49-F238E27FC236}">
                <a16:creationId xmlns:a16="http://schemas.microsoft.com/office/drawing/2014/main" id="{D90D752A-5D17-4296-98BF-77103AC0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33" name="solution-link-1"/>
          <p:cNvCxnSpPr/>
          <p:nvPr/>
        </p:nvCxnSpPr>
        <p:spPr>
          <a:xfrm xmlns:a="http://schemas.openxmlformats.org/drawingml/2006/main">
            <a:off x="5715000" y="33528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7D70"/>
            </a:solidFill>
            <a:prstDash val="solid"/>
          </a:ln>
        </p:spPr>
      </p:cxnSp>
      <p:sp>
        <p:nvSpPr>
          <p:cNvPr id="8" name="solution-chevron-1">
            <a:extLst xmlns:a="http://schemas.openxmlformats.org/drawingml/2006/main">
              <a:ext uri="{FF2B5EF4-FFF2-40B4-BE49-F238E27FC236}">
                <a16:creationId xmlns:a16="http://schemas.microsoft.com/office/drawing/2014/main" id="{849A84E2-3735-47CA-ACC6-B17E4874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575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35" name="solution-link-2"/>
          <p:cNvCxnSpPr/>
          <p:nvPr/>
        </p:nvCxnSpPr>
        <p:spPr>
          <a:xfrm xmlns:a="http://schemas.openxmlformats.org/drawingml/2006/main">
            <a:off x="8553450" y="33528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7D70"/>
            </a:solidFill>
            <a:prstDash val="solid"/>
          </a:ln>
        </p:spPr>
      </p:cxnSp>
      <p:sp>
        <p:nvSpPr>
          <p:cNvPr id="10" name="solution-chevron-2">
            <a:extLst xmlns:a="http://schemas.openxmlformats.org/drawingml/2006/main">
              <a:ext uri="{FF2B5EF4-FFF2-40B4-BE49-F238E27FC236}">
                <a16:creationId xmlns:a16="http://schemas.microsoft.com/office/drawing/2014/main" id="{EE712EC8-C5A8-4AD7-BC9C-AC435130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575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11" name="solution-1-box">
            <a:extLst xmlns:a="http://schemas.openxmlformats.org/drawingml/2006/main">
              <a:ext uri="{FF2B5EF4-FFF2-40B4-BE49-F238E27FC236}">
                <a16:creationId xmlns:a16="http://schemas.microsoft.com/office/drawing/2014/main" id="{7D527206-D9F2-4CB0-A900-7AFAE1D6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olution-1-title">
            <a:extLst xmlns:a="http://schemas.openxmlformats.org/drawingml/2006/main">
              <a:ext uri="{FF2B5EF4-FFF2-40B4-BE49-F238E27FC236}">
                <a16:creationId xmlns:a16="http://schemas.microsoft.com/office/drawing/2014/main" id="{C2E1D72C-49C2-4A63-ABFA-611C02A4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 · Ingest</a:t>
            </a:r>
          </a:p>
        </p:txBody>
      </p:sp>
      <p:sp>
        <p:nvSpPr>
          <p:cNvPr id="13" name="solution-1-body">
            <a:extLst xmlns:a="http://schemas.openxmlformats.org/drawingml/2006/main">
              <a:ext uri="{FF2B5EF4-FFF2-40B4-BE49-F238E27FC236}">
                <a16:creationId xmlns:a16="http://schemas.microsoft.com/office/drawing/2014/main" id="{C89221A5-CFD7-41ED-9118-76B43192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CSV/JSON import today; provider-native cloud logs next.</a:t>
            </a:r>
          </a:p>
        </p:txBody>
      </p:sp>
      <p:sp>
        <p:nvSpPr>
          <p:cNvPr id="14" name="solution-2-box">
            <a:extLst xmlns:a="http://schemas.openxmlformats.org/drawingml/2006/main">
              <a:ext uri="{FF2B5EF4-FFF2-40B4-BE49-F238E27FC236}">
                <a16:creationId xmlns:a16="http://schemas.microsoft.com/office/drawing/2014/main" id="{8C08DEE6-F6B9-41AA-8013-F4454B13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olution-2-title">
            <a:extLst xmlns:a="http://schemas.openxmlformats.org/drawingml/2006/main">
              <a:ext uri="{FF2B5EF4-FFF2-40B4-BE49-F238E27FC236}">
                <a16:creationId xmlns:a16="http://schemas.microsoft.com/office/drawing/2014/main" id="{DFBF9AC5-01F7-4C4D-BEE2-B2840773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 · Context</a:t>
            </a:r>
          </a:p>
        </p:txBody>
      </p:sp>
      <p:sp>
        <p:nvSpPr>
          <p:cNvPr id="16" name="solution-2-body">
            <a:extLst xmlns:a="http://schemas.openxmlformats.org/drawingml/2006/main">
              <a:ext uri="{FF2B5EF4-FFF2-40B4-BE49-F238E27FC236}">
                <a16:creationId xmlns:a16="http://schemas.microsoft.com/office/drawing/2014/main" id="{A866F031-8129-469E-A91C-DBFF9B0B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SQLite-backed activity, identities, evidence, and baselines.</a:t>
            </a:r>
          </a:p>
        </p:txBody>
      </p:sp>
      <p:sp>
        <p:nvSpPr>
          <p:cNvPr id="17" name="solution-3-box">
            <a:extLst xmlns:a="http://schemas.openxmlformats.org/drawingml/2006/main">
              <a:ext uri="{FF2B5EF4-FFF2-40B4-BE49-F238E27FC236}">
                <a16:creationId xmlns:a16="http://schemas.microsoft.com/office/drawing/2014/main" id="{411C8258-261D-4CEA-BB10-D5547106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D70"/>
            </a:solidFill>
            <a:prstDash val="dash"/>
          </a:ln>
        </p:spPr>
      </p:sp>
      <p:sp>
        <p:nvSpPr>
          <p:cNvPr id="18" name="solution-3-title">
            <a:extLst xmlns:a="http://schemas.openxmlformats.org/drawingml/2006/main">
              <a:ext uri="{FF2B5EF4-FFF2-40B4-BE49-F238E27FC236}">
                <a16:creationId xmlns:a16="http://schemas.microsoft.com/office/drawing/2014/main" id="{0BC980C5-FD71-4AA2-9D75-6CAA1921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3 · Decide</a:t>
            </a:r>
          </a:p>
        </p:txBody>
      </p:sp>
      <p:sp>
        <p:nvSpPr>
          <p:cNvPr id="19" name="solution-3-body">
            <a:extLst xmlns:a="http://schemas.openxmlformats.org/drawingml/2006/main">
              <a:ext uri="{FF2B5EF4-FFF2-40B4-BE49-F238E27FC236}">
                <a16:creationId xmlns:a16="http://schemas.microsoft.com/office/drawing/2014/main" id="{AEE8A064-8ABD-4DDD-A19B-AC5B82B4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Transparent rules plus a bounded AI contextual adjustment.</a:t>
            </a:r>
          </a:p>
        </p:txBody>
      </p:sp>
      <p:sp>
        <p:nvSpPr>
          <p:cNvPr id="20" name="solution-4-box">
            <a:extLst xmlns:a="http://schemas.openxmlformats.org/drawingml/2006/main">
              <a:ext uri="{FF2B5EF4-FFF2-40B4-BE49-F238E27FC236}">
                <a16:creationId xmlns:a16="http://schemas.microsoft.com/office/drawing/2014/main" id="{8EA08859-96B2-45F6-834E-E6377790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olution-4-title">
            <a:extLst xmlns:a="http://schemas.openxmlformats.org/drawingml/2006/main">
              <a:ext uri="{FF2B5EF4-FFF2-40B4-BE49-F238E27FC236}">
                <a16:creationId xmlns:a16="http://schemas.microsoft.com/office/drawing/2014/main" id="{F4A8CF43-2353-442D-A82A-3A06C5E3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4 · Act</a:t>
            </a:r>
          </a:p>
        </p:txBody>
      </p:sp>
      <p:sp>
        <p:nvSpPr>
          <p:cNvPr id="22" name="solution-4-body">
            <a:extLst xmlns:a="http://schemas.openxmlformats.org/drawingml/2006/main">
              <a:ext uri="{FF2B5EF4-FFF2-40B4-BE49-F238E27FC236}">
                <a16:creationId xmlns:a16="http://schemas.microsoft.com/office/drawing/2014/main" id="{C5BBBDB5-C03C-4DCC-AFB1-682E8DDB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Command Center, evidence dossier, copilot, and reports.</a:t>
            </a:r>
          </a:p>
        </p:txBody>
      </p:sp>
      <p:sp>
        <p:nvSpPr>
          <p:cNvPr id="23" name="solution-mvp">
            <a:extLst xmlns:a="http://schemas.openxmlformats.org/drawingml/2006/main">
              <a:ext uri="{FF2B5EF4-FFF2-40B4-BE49-F238E27FC236}">
                <a16:creationId xmlns:a16="http://schemas.microsoft.com/office/drawing/2014/main" id="{DF3342DF-39D5-405F-8218-E10E644E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SOLID = MVP CAPABILITY</a:t>
            </a:r>
          </a:p>
        </p:txBody>
      </p:sp>
      <p:sp>
        <p:nvSpPr>
          <p:cNvPr id="24" name="solution-roadmap">
            <a:extLst xmlns:a="http://schemas.openxmlformats.org/drawingml/2006/main">
              <a:ext uri="{FF2B5EF4-FFF2-40B4-BE49-F238E27FC236}">
                <a16:creationId xmlns:a16="http://schemas.microsoft.com/office/drawing/2014/main" id="{215A2951-5B6F-4B34-BE97-FB02AB7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4"/>
                </a:solidFill>
                <a:latin typeface="Arial"/>
                <a:ea typeface="Arial"/>
                <a:cs typeface="Arial"/>
              </a:rPr>
              <a:t>DASHED = DESIGNED EXPANSION</a:t>
            </a:r>
          </a:p>
        </p:txBody>
      </p:sp>
      <p:sp>
        <p:nvSpPr>
          <p:cNvPr id="25" name="solution-outcome-box">
            <a:extLst xmlns:a="http://schemas.openxmlformats.org/drawingml/2006/main">
              <a:ext uri="{FF2B5EF4-FFF2-40B4-BE49-F238E27FC236}">
                <a16:creationId xmlns:a16="http://schemas.microsoft.com/office/drawing/2014/main" id="{08CB8E23-6112-4068-805B-A23A4C48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F2"/>
          </a:solidFill>
          <a:ln xmlns:a="http://schemas.openxmlformats.org/drawingml/2006/main" w="9525">
            <a:solidFill>
              <a:srgbClr val="39E0C5"/>
            </a:solidFill>
            <a:prstDash val="solid"/>
          </a:ln>
        </p:spPr>
      </p:sp>
      <p:sp>
        <p:nvSpPr>
          <p:cNvPr id="26" name="solution-outcome">
            <a:extLst xmlns:a="http://schemas.openxmlformats.org/drawingml/2006/main">
              <a:ext uri="{FF2B5EF4-FFF2-40B4-BE49-F238E27FC236}">
                <a16:creationId xmlns:a16="http://schemas.microsoft.com/office/drawing/2014/main" id="{5C58E66E-C803-4A19-9E95-CB9AAC84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Outcome: analysts see what happened, why it matters, the evidence, and the next action.</a:t>
            </a:r>
          </a:p>
        </p:txBody>
      </p:sp>
    </p:spTree>
    <p:extLst>
      <p:ext uri="{BB962C8B-B14F-4D97-AF65-F5344CB8AC3E}">
        <p14:creationId xmlns:p14="http://schemas.microsoft.com/office/powerpoint/2010/main" val="1288793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-4">
            <a:extLst xmlns:a="http://schemas.openxmlformats.org/drawingml/2006/main">
              <a:ext uri="{FF2B5EF4-FFF2-40B4-BE49-F238E27FC236}">
                <a16:creationId xmlns:a16="http://schemas.microsoft.com/office/drawing/2014/main" id="{5D536960-9E1D-4104-97BB-E31281D2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HIGH-LEVEL TECHNICAL 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608781C-E641-4B46-8305-1956FC5D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MVP is modular from interface to intelligence</a:t>
            </a:r>
          </a:p>
        </p:txBody>
      </p:sp>
      <p:cxnSp>
        <p:nvCxnSpPr>
          <p:cNvPr id="39" name="header-rule-4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E9CDA9F-F78F-43C1-9931-5BBC9BA5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1" name="tech-link-0"/>
          <p:cNvCxnSpPr/>
          <p:nvPr/>
        </p:nvCxnSpPr>
        <p:spPr>
          <a:xfrm xmlns:a="http://schemas.openxmlformats.org/drawingml/2006/main">
            <a:off x="2800350" y="3276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solid"/>
          </a:ln>
        </p:spPr>
      </p:cxnSp>
      <p:sp>
        <p:nvSpPr>
          <p:cNvPr id="6" name="tech-chevron-0">
            <a:extLst xmlns:a="http://schemas.openxmlformats.org/drawingml/2006/main">
              <a:ext uri="{FF2B5EF4-FFF2-40B4-BE49-F238E27FC236}">
                <a16:creationId xmlns:a16="http://schemas.microsoft.com/office/drawing/2014/main" id="{4EB39B7E-9CA7-4F01-A112-9B0A3D76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81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43" name="tech-link-1"/>
          <p:cNvCxnSpPr/>
          <p:nvPr/>
        </p:nvCxnSpPr>
        <p:spPr>
          <a:xfrm xmlns:a="http://schemas.openxmlformats.org/drawingml/2006/main">
            <a:off x="5734050" y="3276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solid"/>
          </a:ln>
        </p:spPr>
      </p:cxnSp>
      <p:sp>
        <p:nvSpPr>
          <p:cNvPr id="8" name="tech-chevron-1">
            <a:extLst xmlns:a="http://schemas.openxmlformats.org/drawingml/2006/main">
              <a:ext uri="{FF2B5EF4-FFF2-40B4-BE49-F238E27FC236}">
                <a16:creationId xmlns:a16="http://schemas.microsoft.com/office/drawing/2014/main" id="{3295FDA4-56BE-41C5-9C79-C9021960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45" name="tech-link-2"/>
          <p:cNvCxnSpPr/>
          <p:nvPr/>
        </p:nvCxnSpPr>
        <p:spPr>
          <a:xfrm xmlns:a="http://schemas.openxmlformats.org/drawingml/2006/main">
            <a:off x="8534400" y="3276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solid"/>
          </a:ln>
        </p:spPr>
      </p:cxnSp>
      <p:sp>
        <p:nvSpPr>
          <p:cNvPr id="10" name="tech-chevron-2">
            <a:extLst xmlns:a="http://schemas.openxmlformats.org/drawingml/2006/main">
              <a:ext uri="{FF2B5EF4-FFF2-40B4-BE49-F238E27FC236}">
                <a16:creationId xmlns:a16="http://schemas.microsoft.com/office/drawing/2014/main" id="{0981B7CD-DCA3-4B5A-A843-9AB116C2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47" name="tech-planned-link"/>
          <p:cNvCxnSpPr/>
          <p:nvPr/>
        </p:nvCxnSpPr>
        <p:spPr>
          <a:xfrm xmlns:a="http://schemas.openxmlformats.org/drawingml/2006/main">
            <a:off x="1657350" y="394335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dash"/>
          </a:ln>
        </p:spPr>
      </p:cxnSp>
      <p:sp>
        <p:nvSpPr>
          <p:cNvPr id="12" name="tech-col-1-title">
            <a:extLst xmlns:a="http://schemas.openxmlformats.org/drawingml/2006/main">
              <a:ext uri="{FF2B5EF4-FFF2-40B4-BE49-F238E27FC236}">
                <a16:creationId xmlns:a16="http://schemas.microsoft.com/office/drawing/2014/main" id="{E733E585-9189-4255-952D-8A0692C9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TELEMETRY</a:t>
            </a:r>
          </a:p>
        </p:txBody>
      </p:sp>
      <p:sp>
        <p:nvSpPr>
          <p:cNvPr id="13" name="tech-upload">
            <a:extLst xmlns:a="http://schemas.openxmlformats.org/drawingml/2006/main">
              <a:ext uri="{FF2B5EF4-FFF2-40B4-BE49-F238E27FC236}">
                <a16:creationId xmlns:a16="http://schemas.microsoft.com/office/drawing/2014/main" id="{346DED3F-1F31-4EB6-AE51-E5650B5F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266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ch-upload-title">
            <a:extLst xmlns:a="http://schemas.openxmlformats.org/drawingml/2006/main">
              <a:ext uri="{FF2B5EF4-FFF2-40B4-BE49-F238E27FC236}">
                <a16:creationId xmlns:a16="http://schemas.microsoft.com/office/drawing/2014/main" id="{618823A7-4BFB-4DB2-8378-9DCFA621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Synthetic CSV / JSON</a:t>
            </a:r>
          </a:p>
        </p:txBody>
      </p:sp>
      <p:sp>
        <p:nvSpPr>
          <p:cNvPr id="15" name="tech-upload-body">
            <a:extLst xmlns:a="http://schemas.openxmlformats.org/drawingml/2006/main">
              <a:ext uri="{FF2B5EF4-FFF2-40B4-BE49-F238E27FC236}">
                <a16:creationId xmlns:a16="http://schemas.microsoft.com/office/drawing/2014/main" id="{6D517035-1C50-43D2-A8E3-50BAC6B7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Current upload boundary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≤10,000 records</a:t>
            </a:r>
          </a:p>
        </p:txBody>
      </p:sp>
      <p:sp>
        <p:nvSpPr>
          <p:cNvPr id="16" name="tech-cloud">
            <a:extLst xmlns:a="http://schemas.openxmlformats.org/drawingml/2006/main">
              <a:ext uri="{FF2B5EF4-FFF2-40B4-BE49-F238E27FC236}">
                <a16:creationId xmlns:a16="http://schemas.microsoft.com/office/drawing/2014/main" id="{8C9E81BF-45C4-4D1F-AB3D-27D9D077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266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D70"/>
            </a:solidFill>
            <a:prstDash val="dash"/>
          </a:ln>
        </p:spPr>
      </p:sp>
      <p:sp>
        <p:nvSpPr>
          <p:cNvPr id="17" name="tech-cloud-text">
            <a:extLst xmlns:a="http://schemas.openxmlformats.org/drawingml/2006/main">
              <a:ext uri="{FF2B5EF4-FFF2-40B4-BE49-F238E27FC236}">
                <a16:creationId xmlns:a16="http://schemas.microsoft.com/office/drawing/2014/main" id="{04AC288F-2115-4DF0-97B8-EE7E4B2B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AWS · Azure · GCP</a:t>
            </a:r>
          </a:p>
          <a:p xmlns:a="http://schemas.openxmlformats.org/drawingml/2006/main">
            <a:pPr algn="l"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normalizers · planned</a:t>
            </a:r>
          </a:p>
        </p:txBody>
      </p:sp>
      <p:sp>
        <p:nvSpPr>
          <p:cNvPr id="18" name="tech-col-2-title">
            <a:extLst xmlns:a="http://schemas.openxmlformats.org/drawingml/2006/main">
              <a:ext uri="{FF2B5EF4-FFF2-40B4-BE49-F238E27FC236}">
                <a16:creationId xmlns:a16="http://schemas.microsoft.com/office/drawing/2014/main" id="{DD773BEA-A4D4-464B-9EF9-1BEA7C4B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431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API &amp; STORAGE</a:t>
            </a:r>
          </a:p>
        </p:txBody>
      </p:sp>
      <p:sp>
        <p:nvSpPr>
          <p:cNvPr id="19" name="tech-fastapi">
            <a:extLst xmlns:a="http://schemas.openxmlformats.org/drawingml/2006/main">
              <a:ext uri="{FF2B5EF4-FFF2-40B4-BE49-F238E27FC236}">
                <a16:creationId xmlns:a16="http://schemas.microsoft.com/office/drawing/2014/main" id="{2B7046D5-0B27-476A-AAE5-DBABB4E2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25527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ch-fastapi-title">
            <a:extLst xmlns:a="http://schemas.openxmlformats.org/drawingml/2006/main">
              <a:ext uri="{FF2B5EF4-FFF2-40B4-BE49-F238E27FC236}">
                <a16:creationId xmlns:a16="http://schemas.microsoft.com/office/drawing/2014/main" id="{857E11D5-5098-42D9-B088-FD4CE146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90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21" name="tech-fastapi-body">
            <a:extLst xmlns:a="http://schemas.openxmlformats.org/drawingml/2006/main">
              <a:ext uri="{FF2B5EF4-FFF2-40B4-BE49-F238E27FC236}">
                <a16:creationId xmlns:a16="http://schemas.microsoft.com/office/drawing/2014/main" id="{7CB41FFB-B2AD-4E6B-B385-8B73141A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Service routers for command center, datasets, identities, policies, reports, and copilot</a:t>
            </a:r>
          </a:p>
        </p:txBody>
      </p:sp>
      <p:sp>
        <p:nvSpPr>
          <p:cNvPr id="22" name="tech-sqlite">
            <a:extLst xmlns:a="http://schemas.openxmlformats.org/drawingml/2006/main">
              <a:ext uri="{FF2B5EF4-FFF2-40B4-BE49-F238E27FC236}">
                <a16:creationId xmlns:a16="http://schemas.microsoft.com/office/drawing/2014/main" id="{4DEB4494-64AD-4FE9-A803-EEABA2D9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67200"/>
            <a:ext cx="2552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ch-sqlite-title">
            <a:extLst xmlns:a="http://schemas.openxmlformats.org/drawingml/2006/main">
              <a:ext uri="{FF2B5EF4-FFF2-40B4-BE49-F238E27FC236}">
                <a16:creationId xmlns:a16="http://schemas.microsoft.com/office/drawing/2014/main" id="{D91B373C-FC12-4A13-96FF-A6819972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767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Store + SQLite</a:t>
            </a:r>
          </a:p>
        </p:txBody>
      </p:sp>
      <p:sp>
        <p:nvSpPr>
          <p:cNvPr id="24" name="tech-sqlite-body">
            <a:extLst xmlns:a="http://schemas.openxmlformats.org/drawingml/2006/main">
              <a:ext uri="{FF2B5EF4-FFF2-40B4-BE49-F238E27FC236}">
                <a16:creationId xmlns:a16="http://schemas.microsoft.com/office/drawing/2014/main" id="{5651A010-824E-4A6E-897F-82280575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Findings, activity, identities, cloud sources, policies, reports, AI cache</a:t>
            </a:r>
          </a:p>
        </p:txBody>
      </p:sp>
      <p:sp>
        <p:nvSpPr>
          <p:cNvPr id="25" name="tech-col-3-title">
            <a:extLst xmlns:a="http://schemas.openxmlformats.org/drawingml/2006/main">
              <a:ext uri="{FF2B5EF4-FFF2-40B4-BE49-F238E27FC236}">
                <a16:creationId xmlns:a16="http://schemas.microsoft.com/office/drawing/2014/main" id="{6512C6E4-4CD2-4BE3-B981-9ECCDAC7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431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AI LAYER</a:t>
            </a:r>
          </a:p>
        </p:txBody>
      </p:sp>
      <p:sp>
        <p:nvSpPr>
          <p:cNvPr id="26" name="tech-litellm">
            <a:extLst xmlns:a="http://schemas.openxmlformats.org/drawingml/2006/main">
              <a:ext uri="{FF2B5EF4-FFF2-40B4-BE49-F238E27FC236}">
                <a16:creationId xmlns:a16="http://schemas.microsoft.com/office/drawing/2014/main" id="{A395195E-EF14-4F50-9AAC-07B9D359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4193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F2"/>
          </a:solidFill>
          <a:ln xmlns:a="http://schemas.openxmlformats.org/drawingml/2006/main" w="9525">
            <a:solidFill>
              <a:srgbClr val="39E0C5"/>
            </a:solidFill>
            <a:prstDash val="solid"/>
          </a:ln>
        </p:spPr>
      </p:sp>
      <p:sp>
        <p:nvSpPr>
          <p:cNvPr id="27" name="tech-litellm-title">
            <a:extLst xmlns:a="http://schemas.openxmlformats.org/drawingml/2006/main">
              <a:ext uri="{FF2B5EF4-FFF2-40B4-BE49-F238E27FC236}">
                <a16:creationId xmlns:a16="http://schemas.microsoft.com/office/drawing/2014/main" id="{166740F4-98EB-4CC4-A23B-F075202A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liteLLM</a:t>
            </a:r>
          </a:p>
        </p:txBody>
      </p:sp>
      <p:sp>
        <p:nvSpPr>
          <p:cNvPr id="28" name="tech-litellm-body">
            <a:extLst xmlns:a="http://schemas.openxmlformats.org/drawingml/2006/main">
              <a:ext uri="{FF2B5EF4-FFF2-40B4-BE49-F238E27FC236}">
                <a16:creationId xmlns:a16="http://schemas.microsoft.com/office/drawing/2014/main" id="{FDBC8987-C626-461A-86CC-A9915090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Gateway for an OpenAI-compatible chat completion path with a 15-second timeout</a:t>
            </a:r>
          </a:p>
        </p:txBody>
      </p:sp>
      <p:sp>
        <p:nvSpPr>
          <p:cNvPr id="29" name="tech-ai-features">
            <a:extLst xmlns:a="http://schemas.openxmlformats.org/drawingml/2006/main">
              <a:ext uri="{FF2B5EF4-FFF2-40B4-BE49-F238E27FC236}">
                <a16:creationId xmlns:a16="http://schemas.microsoft.com/office/drawing/2014/main" id="{B97E8F77-712E-41A2-84A7-0A1E200C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2419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ch-ai-features-title">
            <a:extLst xmlns:a="http://schemas.openxmlformats.org/drawingml/2006/main">
              <a:ext uri="{FF2B5EF4-FFF2-40B4-BE49-F238E27FC236}">
                <a16:creationId xmlns:a16="http://schemas.microsoft.com/office/drawing/2014/main" id="{5F954F56-C44C-4642-A059-BF9D70C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AI capabilities</a:t>
            </a:r>
          </a:p>
        </p:txBody>
      </p:sp>
      <p:sp>
        <p:nvSpPr>
          <p:cNvPr id="31" name="tech-ai-features-body">
            <a:extLst xmlns:a="http://schemas.openxmlformats.org/drawingml/2006/main">
              <a:ext uri="{FF2B5EF4-FFF2-40B4-BE49-F238E27FC236}">
                <a16:creationId xmlns:a16="http://schemas.microsoft.com/office/drawing/2014/main" id="{F14565CD-CFC7-4E82-8C8D-0FF95645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Explanations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Copilot tool calls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Report narratives</a:t>
            </a:r>
          </a:p>
        </p:txBody>
      </p:sp>
      <p:sp>
        <p:nvSpPr>
          <p:cNvPr id="32" name="tech-col-4-title">
            <a:extLst xmlns:a="http://schemas.openxmlformats.org/drawingml/2006/main">
              <a:ext uri="{FF2B5EF4-FFF2-40B4-BE49-F238E27FC236}">
                <a16:creationId xmlns:a16="http://schemas.microsoft.com/office/drawing/2014/main" id="{53B405D7-F477-4567-98A9-8CE672AF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ANALYST EXPERIENCE</a:t>
            </a:r>
          </a:p>
        </p:txBody>
      </p:sp>
      <p:sp>
        <p:nvSpPr>
          <p:cNvPr id="33" name="tech-react">
            <a:extLst xmlns:a="http://schemas.openxmlformats.org/drawingml/2006/main">
              <a:ext uri="{FF2B5EF4-FFF2-40B4-BE49-F238E27FC236}">
                <a16:creationId xmlns:a16="http://schemas.microsoft.com/office/drawing/2014/main" id="{00C60F53-4D47-4CEF-A59C-C2C8BFA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7432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4" name="tech-react-title">
            <a:extLst xmlns:a="http://schemas.openxmlformats.org/drawingml/2006/main">
              <a:ext uri="{FF2B5EF4-FFF2-40B4-BE49-F238E27FC236}">
                <a16:creationId xmlns:a16="http://schemas.microsoft.com/office/drawing/2014/main" id="{2732B891-5318-4142-A232-78424200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35" name="tech-react-body">
            <a:extLst xmlns:a="http://schemas.openxmlformats.org/drawingml/2006/main">
              <a:ext uri="{FF2B5EF4-FFF2-40B4-BE49-F238E27FC236}">
                <a16:creationId xmlns:a16="http://schemas.microsoft.com/office/drawing/2014/main" id="{2960E2B5-770A-4B86-8D58-198D599C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28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Command Center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Activity Explorer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Identity Profiles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 Estate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Policies &amp; Reports</a:t>
            </a:r>
          </a:p>
        </p:txBody>
      </p:sp>
      <p:sp>
        <p:nvSpPr>
          <p:cNvPr id="36" name="tech-react-footer">
            <a:extLst xmlns:a="http://schemas.openxmlformats.org/drawingml/2006/main">
              <a:ext uri="{FF2B5EF4-FFF2-40B4-BE49-F238E27FC236}">
                <a16:creationId xmlns:a16="http://schemas.microsoft.com/office/drawing/2014/main" id="{ED3C0840-71D5-46B2-8C3A-9EBD0920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91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E0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E0C5"/>
                </a:solidFill>
                <a:latin typeface="Arial"/>
                <a:ea typeface="Arial"/>
                <a:cs typeface="Arial"/>
              </a:rPr>
              <a:t>Evidence dossier + Ask Sentinel</a:t>
            </a:r>
          </a:p>
        </p:txBody>
      </p:sp>
    </p:spTree>
    <p:extLst>
      <p:ext uri="{BB962C8B-B14F-4D97-AF65-F5344CB8AC3E}">
        <p14:creationId xmlns:p14="http://schemas.microsoft.com/office/powerpoint/2010/main" val="1128222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5">
            <a:extLst xmlns:a="http://schemas.openxmlformats.org/drawingml/2006/main">
              <a:ext uri="{FF2B5EF4-FFF2-40B4-BE49-F238E27FC236}">
                <a16:creationId xmlns:a16="http://schemas.microsoft.com/office/drawing/2014/main" id="{3DB1444D-56E8-4ACC-80D0-C7678629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AI / ML COMPONENTS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78F0BA3-2EAC-42AF-8520-D9456801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AI adds context without owning the controls</a:t>
            </a:r>
          </a:p>
        </p:txBody>
      </p:sp>
      <p:cxnSp>
        <p:nvCxnSpPr>
          <p:cNvPr id="22" name="header-rule-5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A04DBA9-E53D-4F95-AC91-8122508B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24" name="ai-top-rule-0"/>
          <p:cNvCxnSpPr/>
          <p:nvPr/>
        </p:nvCxnSpPr>
        <p:spPr>
          <a:xfrm xmlns:a="http://schemas.openxmlformats.org/drawingml/2006/main">
            <a:off x="533400" y="2095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6" name="ai-tag-0">
            <a:extLst xmlns:a="http://schemas.openxmlformats.org/drawingml/2006/main">
              <a:ext uri="{FF2B5EF4-FFF2-40B4-BE49-F238E27FC236}">
                <a16:creationId xmlns:a16="http://schemas.microsoft.com/office/drawing/2014/main" id="{40FA79A2-0594-4E40-A588-7246D66E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7" name="ai-title-0">
            <a:extLst xmlns:a="http://schemas.openxmlformats.org/drawingml/2006/main">
              <a:ext uri="{FF2B5EF4-FFF2-40B4-BE49-F238E27FC236}">
                <a16:creationId xmlns:a16="http://schemas.microsoft.com/office/drawing/2014/main" id="{E09A123D-0CF8-4715-83B1-0AECF0AB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Finding explanations</a:t>
            </a:r>
          </a:p>
        </p:txBody>
      </p:sp>
      <p:sp>
        <p:nvSpPr>
          <p:cNvPr id="8" name="ai-body-0">
            <a:extLst xmlns:a="http://schemas.openxmlformats.org/drawingml/2006/main">
              <a:ext uri="{FF2B5EF4-FFF2-40B4-BE49-F238E27FC236}">
                <a16:creationId xmlns:a16="http://schemas.microsoft.com/office/drawing/2014/main" id="{4C01E9C8-09F9-452B-8F45-4D6CC889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Generates 2–3 plain-language sentences from a finding’s evidence and baseline; caches the result; falls back safely.</a:t>
            </a:r>
          </a:p>
        </p:txBody>
      </p:sp>
      <p:cxnSp>
        <p:nvCxnSpPr>
          <p:cNvPr id="28" name="ai-top-rule-1"/>
          <p:cNvCxnSpPr/>
          <p:nvPr/>
        </p:nvCxnSpPr>
        <p:spPr>
          <a:xfrm xmlns:a="http://schemas.openxmlformats.org/drawingml/2006/main">
            <a:off x="4191000" y="2095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E0C5"/>
            </a:solidFill>
            <a:prstDash val="solid"/>
          </a:ln>
        </p:spPr>
      </p:cxnSp>
      <p:sp>
        <p:nvSpPr>
          <p:cNvPr id="10" name="ai-tag-1">
            <a:extLst xmlns:a="http://schemas.openxmlformats.org/drawingml/2006/main">
              <a:ext uri="{FF2B5EF4-FFF2-40B4-BE49-F238E27FC236}">
                <a16:creationId xmlns:a16="http://schemas.microsoft.com/office/drawing/2014/main" id="{5FE86D9A-7B6D-4904-AAC0-A9E5BB84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1" name="ai-title-1">
            <a:extLst xmlns:a="http://schemas.openxmlformats.org/drawingml/2006/main">
              <a:ext uri="{FF2B5EF4-FFF2-40B4-BE49-F238E27FC236}">
                <a16:creationId xmlns:a16="http://schemas.microsoft.com/office/drawing/2014/main" id="{7BDDF9CB-6A71-421B-A16D-5B524773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Ask Sentinel copilot</a:t>
            </a:r>
          </a:p>
        </p:txBody>
      </p:sp>
      <p:sp>
        <p:nvSpPr>
          <p:cNvPr id="12" name="ai-body-1">
            <a:extLst xmlns:a="http://schemas.openxmlformats.org/drawingml/2006/main">
              <a:ext uri="{FF2B5EF4-FFF2-40B4-BE49-F238E27FC236}">
                <a16:creationId xmlns:a16="http://schemas.microsoft.com/office/drawing/2014/main" id="{AC062DA4-C4B5-4AE2-86A3-71229FC4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Uses bounded tool calling to filter current findings, activity, and identities; returns the underlying records with the answer.</a:t>
            </a:r>
          </a:p>
        </p:txBody>
      </p:sp>
      <p:cxnSp>
        <p:nvCxnSpPr>
          <p:cNvPr id="32" name="ai-top-rule-2"/>
          <p:cNvCxnSpPr/>
          <p:nvPr/>
        </p:nvCxnSpPr>
        <p:spPr>
          <a:xfrm xmlns:a="http://schemas.openxmlformats.org/drawingml/2006/main">
            <a:off x="7848600" y="2095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14" name="ai-tag-2">
            <a:extLst xmlns:a="http://schemas.openxmlformats.org/drawingml/2006/main">
              <a:ext uri="{FF2B5EF4-FFF2-40B4-BE49-F238E27FC236}">
                <a16:creationId xmlns:a16="http://schemas.microsoft.com/office/drawing/2014/main" id="{6B598736-2B59-45E1-AF24-C82B84C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5" name="ai-title-2">
            <a:extLst xmlns:a="http://schemas.openxmlformats.org/drawingml/2006/main">
              <a:ext uri="{FF2B5EF4-FFF2-40B4-BE49-F238E27FC236}">
                <a16:creationId xmlns:a16="http://schemas.microsoft.com/office/drawing/2014/main" id="{D7F0D6E5-697E-4191-91E7-40DD5374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Report narratives</a:t>
            </a:r>
          </a:p>
        </p:txBody>
      </p:sp>
      <p:sp>
        <p:nvSpPr>
          <p:cNvPr id="16" name="ai-body-2">
            <a:extLst xmlns:a="http://schemas.openxmlformats.org/drawingml/2006/main">
              <a:ext uri="{FF2B5EF4-FFF2-40B4-BE49-F238E27FC236}">
                <a16:creationId xmlns:a16="http://schemas.microsoft.com/office/drawing/2014/main" id="{A5BF4ADD-BA2C-4624-91CD-6DFD443B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Drafts a 3–5 sentence security narrative from current findings and event counts without inventing new data.</a:t>
            </a:r>
          </a:p>
        </p:txBody>
      </p:sp>
      <p:sp>
        <p:nvSpPr>
          <p:cNvPr id="17" name="ai-guardrail">
            <a:extLst xmlns:a="http://schemas.openxmlformats.org/drawingml/2006/main">
              <a:ext uri="{FF2B5EF4-FFF2-40B4-BE49-F238E27FC236}">
                <a16:creationId xmlns:a16="http://schemas.microsoft.com/office/drawing/2014/main" id="{DBAC81C3-049F-415A-8073-0437D1A5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0591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8" name="ai-guardrail-title">
            <a:extLst xmlns:a="http://schemas.openxmlformats.org/drawingml/2006/main">
              <a:ext uri="{FF2B5EF4-FFF2-40B4-BE49-F238E27FC236}">
                <a16:creationId xmlns:a16="http://schemas.microsoft.com/office/drawing/2014/main" id="{2556E932-D282-4B40-A789-DB1CF860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E0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E0C5"/>
                </a:solidFill>
                <a:latin typeface="Arial"/>
                <a:ea typeface="Arial"/>
                <a:cs typeface="Arial"/>
              </a:rPr>
              <a:t>DESIGNED NEXT · POLICY-FIRST RISK</a:t>
            </a:r>
          </a:p>
        </p:txBody>
      </p:sp>
      <p:sp>
        <p:nvSpPr>
          <p:cNvPr id="19" name="ai-guardrail-formula">
            <a:extLst xmlns:a="http://schemas.openxmlformats.org/drawingml/2006/main">
              <a:ext uri="{FF2B5EF4-FFF2-40B4-BE49-F238E27FC236}">
                <a16:creationId xmlns:a16="http://schemas.microsoft.com/office/drawing/2014/main" id="{C684A7C7-6ECF-40C8-9B6B-79671710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38775"/>
            <a:ext cx="687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score = deterministic policy score + validated AI adjustment, with severity floors applied last.</a:t>
            </a:r>
          </a:p>
        </p:txBody>
      </p:sp>
    </p:spTree>
    <p:extLst>
      <p:ext uri="{BB962C8B-B14F-4D97-AF65-F5344CB8AC3E}">
        <p14:creationId xmlns:p14="http://schemas.microsoft.com/office/powerpoint/2010/main" val="43832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6">
            <a:extLst xmlns:a="http://schemas.openxmlformats.org/drawingml/2006/main">
              <a:ext uri="{FF2B5EF4-FFF2-40B4-BE49-F238E27FC236}">
                <a16:creationId xmlns:a16="http://schemas.microsoft.com/office/drawing/2014/main" id="{A7781739-AABD-4E2B-8D33-F01B258D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INNOVATION &amp; CREATIVITY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F750425-1B8F-448F-93E1-7ACE55A3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Innovation connects evidence directly to action</a:t>
            </a:r>
          </a:p>
        </p:txBody>
      </p:sp>
      <p:cxnSp>
        <p:nvCxnSpPr>
          <p:cNvPr id="23" name="header-rule-6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FFBD72C-4164-4E2B-A518-785AC8E3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25" name="innov-rule-01"/>
          <p:cNvCxnSpPr/>
          <p:nvPr/>
        </p:nvCxnSpPr>
        <p:spPr>
          <a:xfrm xmlns:a="http://schemas.openxmlformats.org/drawingml/2006/main">
            <a:off x="533400" y="20764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E0C5"/>
            </a:solidFill>
            <a:prstDash val="solid"/>
          </a:ln>
        </p:spPr>
      </p:cxnSp>
      <p:sp>
        <p:nvSpPr>
          <p:cNvPr id="6" name="innov-num-01">
            <a:extLst xmlns:a="http://schemas.openxmlformats.org/drawingml/2006/main">
              <a:ext uri="{FF2B5EF4-FFF2-40B4-BE49-F238E27FC236}">
                <a16:creationId xmlns:a16="http://schemas.microsoft.com/office/drawing/2014/main" id="{1440CAA9-F89D-40E2-8F00-16EADB72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innov-title-01">
            <a:extLst xmlns:a="http://schemas.openxmlformats.org/drawingml/2006/main">
              <a:ext uri="{FF2B5EF4-FFF2-40B4-BE49-F238E27FC236}">
                <a16:creationId xmlns:a16="http://schemas.microsoft.com/office/drawing/2014/main" id="{A45BB975-E16B-430B-BAA9-7CD58614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Evidence before alarm</a:t>
            </a:r>
          </a:p>
        </p:txBody>
      </p:sp>
      <p:sp>
        <p:nvSpPr>
          <p:cNvPr id="8" name="innov-body-01">
            <a:extLst xmlns:a="http://schemas.openxmlformats.org/drawingml/2006/main">
              <a:ext uri="{FF2B5EF4-FFF2-40B4-BE49-F238E27FC236}">
                <a16:creationId xmlns:a16="http://schemas.microsoft.com/office/drawing/2014/main" id="{1570B1BE-B073-4963-8A9B-EC7D7459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The dossier starts with the causal story, evidence chips, expected baseline, and a recommended action.</a:t>
            </a:r>
          </a:p>
        </p:txBody>
      </p:sp>
      <p:cxnSp>
        <p:nvCxnSpPr>
          <p:cNvPr id="29" name="innov-rule-02"/>
          <p:cNvCxnSpPr/>
          <p:nvPr/>
        </p:nvCxnSpPr>
        <p:spPr>
          <a:xfrm xmlns:a="http://schemas.openxmlformats.org/drawingml/2006/main">
            <a:off x="6191250" y="20764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innov-num-02">
            <a:extLst xmlns:a="http://schemas.openxmlformats.org/drawingml/2006/main">
              <a:ext uri="{FF2B5EF4-FFF2-40B4-BE49-F238E27FC236}">
                <a16:creationId xmlns:a16="http://schemas.microsoft.com/office/drawing/2014/main" id="{808CA43D-6E14-4BFC-82E4-17052AB8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nnov-title-02">
            <a:extLst xmlns:a="http://schemas.openxmlformats.org/drawingml/2006/main">
              <a:ext uri="{FF2B5EF4-FFF2-40B4-BE49-F238E27FC236}">
                <a16:creationId xmlns:a16="http://schemas.microsoft.com/office/drawing/2014/main" id="{688BB324-1987-4324-8577-D7E9D1F8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Constrained intelligence</a:t>
            </a:r>
          </a:p>
        </p:txBody>
      </p:sp>
      <p:sp>
        <p:nvSpPr>
          <p:cNvPr id="12" name="innov-body-02">
            <a:extLst xmlns:a="http://schemas.openxmlformats.org/drawingml/2006/main">
              <a:ext uri="{FF2B5EF4-FFF2-40B4-BE49-F238E27FC236}">
                <a16:creationId xmlns:a16="http://schemas.microsoft.com/office/drawing/2014/main" id="{9601951D-2000-4EE7-B8E6-6F12A0B0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AI explains and searches; deterministic controls, validation, fallbacks, and evidence IDs protect the decision.</a:t>
            </a:r>
          </a:p>
        </p:txBody>
      </p:sp>
      <p:cxnSp>
        <p:nvCxnSpPr>
          <p:cNvPr id="33" name="innov-rule-03"/>
          <p:cNvCxnSpPr/>
          <p:nvPr/>
        </p:nvCxnSpPr>
        <p:spPr>
          <a:xfrm xmlns:a="http://schemas.openxmlformats.org/drawingml/2006/main">
            <a:off x="533400" y="41148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innov-num-03">
            <a:extLst xmlns:a="http://schemas.openxmlformats.org/drawingml/2006/main">
              <a:ext uri="{FF2B5EF4-FFF2-40B4-BE49-F238E27FC236}">
                <a16:creationId xmlns:a16="http://schemas.microsoft.com/office/drawing/2014/main" id="{ED14D704-E7F7-4E42-85B7-9123ABE5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innov-title-03">
            <a:extLst xmlns:a="http://schemas.openxmlformats.org/drawingml/2006/main">
              <a:ext uri="{FF2B5EF4-FFF2-40B4-BE49-F238E27FC236}">
                <a16:creationId xmlns:a16="http://schemas.microsoft.com/office/drawing/2014/main" id="{62112DE1-A533-4022-8987-00F2C86C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Signal Room language</a:t>
            </a:r>
          </a:p>
        </p:txBody>
      </p:sp>
      <p:sp>
        <p:nvSpPr>
          <p:cNvPr id="16" name="innov-body-03">
            <a:extLst xmlns:a="http://schemas.openxmlformats.org/drawingml/2006/main">
              <a:ext uri="{FF2B5EF4-FFF2-40B4-BE49-F238E27FC236}">
                <a16:creationId xmlns:a16="http://schemas.microsoft.com/office/drawing/2014/main" id="{646ABE61-5016-436D-BEA5-9238C26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387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calm intelligence-console design uses Signal Teal, segmented risk traces, and operational verbs—not cyberpunk noise.</a:t>
            </a:r>
          </a:p>
        </p:txBody>
      </p:sp>
      <p:cxnSp>
        <p:nvCxnSpPr>
          <p:cNvPr id="37" name="innov-rule-04"/>
          <p:cNvCxnSpPr/>
          <p:nvPr/>
        </p:nvCxnSpPr>
        <p:spPr>
          <a:xfrm xmlns:a="http://schemas.openxmlformats.org/drawingml/2006/main">
            <a:off x="6191250" y="41148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innov-num-04">
            <a:extLst xmlns:a="http://schemas.openxmlformats.org/drawingml/2006/main">
              <a:ext uri="{FF2B5EF4-FFF2-40B4-BE49-F238E27FC236}">
                <a16:creationId xmlns:a16="http://schemas.microsoft.com/office/drawing/2014/main" id="{776C41AD-98DE-49DB-8534-D15DC3E8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innov-title-04">
            <a:extLst xmlns:a="http://schemas.openxmlformats.org/drawingml/2006/main">
              <a:ext uri="{FF2B5EF4-FFF2-40B4-BE49-F238E27FC236}">
                <a16:creationId xmlns:a16="http://schemas.microsoft.com/office/drawing/2014/main" id="{A3595DA6-B671-4938-B6B4-3F3EBEF4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Demo-safe realism</a:t>
            </a:r>
          </a:p>
        </p:txBody>
      </p:sp>
      <p:sp>
        <p:nvSpPr>
          <p:cNvPr id="20" name="innov-body-04">
            <a:extLst xmlns:a="http://schemas.openxmlformats.org/drawingml/2006/main">
              <a:ext uri="{FF2B5EF4-FFF2-40B4-BE49-F238E27FC236}">
                <a16:creationId xmlns:a16="http://schemas.microsoft.com/office/drawing/2014/main" id="{C7012E14-51D1-4952-9BC7-415C3580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387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Synthetic telemetry, anomaly simulation, provider-shaped fixtures, and separate test oracles enable a credible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2100251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37A3109C-1411-475F-A3E1-59DAB5EC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SCALABILITY FOR FUTURE EXPANSION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FF353BC-46CC-4A44-8A5C-A0DD0884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Scale by replacing adapters—not the workflow</a:t>
            </a:r>
          </a:p>
        </p:txBody>
      </p:sp>
      <p:cxnSp>
        <p:nvCxnSpPr>
          <p:cNvPr id="21" name="header-rule-7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5C7719B1-132A-4A3A-A744-591C872A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3" name="scale-line"/>
          <p:cNvCxnSpPr/>
          <p:nvPr/>
        </p:nvCxnSpPr>
        <p:spPr>
          <a:xfrm xmlns:a="http://schemas.openxmlformats.org/drawingml/2006/main">
            <a:off x="990600" y="32385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220"/>
            </a:solidFill>
            <a:prstDash val="solid"/>
          </a:ln>
        </p:spPr>
      </p:cxnSp>
      <p:sp>
        <p:nvSpPr>
          <p:cNvPr id="6" name="scale-dot-0">
            <a:extLst xmlns:a="http://schemas.openxmlformats.org/drawingml/2006/main">
              <a:ext uri="{FF2B5EF4-FFF2-40B4-BE49-F238E27FC236}">
                <a16:creationId xmlns:a16="http://schemas.microsoft.com/office/drawing/2014/main" id="{970089B8-4E36-4FF9-8EEA-C38791A2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7" name="scale-dot-1">
            <a:extLst xmlns:a="http://schemas.openxmlformats.org/drawingml/2006/main">
              <a:ext uri="{FF2B5EF4-FFF2-40B4-BE49-F238E27FC236}">
                <a16:creationId xmlns:a16="http://schemas.microsoft.com/office/drawing/2014/main" id="{F6668CE2-E4D1-4382-8884-3F65FFEB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8" name="scale-dot-2">
            <a:extLst xmlns:a="http://schemas.openxmlformats.org/drawingml/2006/main">
              <a:ext uri="{FF2B5EF4-FFF2-40B4-BE49-F238E27FC236}">
                <a16:creationId xmlns:a16="http://schemas.microsoft.com/office/drawing/2014/main" id="{B2A8C9D8-1407-4587-A6B9-1F117881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9" name="scale-now-label">
            <a:extLst xmlns:a="http://schemas.openxmlformats.org/drawingml/2006/main">
              <a:ext uri="{FF2B5EF4-FFF2-40B4-BE49-F238E27FC236}">
                <a16:creationId xmlns:a16="http://schemas.microsoft.com/office/drawing/2014/main" id="{CC7A5F14-00C7-4B89-BA11-98DC3CFC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NOW · HACKATHON MVP</a:t>
            </a:r>
          </a:p>
        </p:txBody>
      </p:sp>
      <p:sp>
        <p:nvSpPr>
          <p:cNvPr id="10" name="scale-next-label">
            <a:extLst xmlns:a="http://schemas.openxmlformats.org/drawingml/2006/main">
              <a:ext uri="{FF2B5EF4-FFF2-40B4-BE49-F238E27FC236}">
                <a16:creationId xmlns:a16="http://schemas.microsoft.com/office/drawing/2014/main" id="{5C268BBD-1C37-4682-B6DB-95FD8FE1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4"/>
                </a:solidFill>
                <a:latin typeface="Arial"/>
                <a:ea typeface="Arial"/>
                <a:cs typeface="Arial"/>
              </a:rPr>
              <a:t>NEXT · TRUSTED DATA</a:t>
            </a:r>
          </a:p>
        </p:txBody>
      </p:sp>
      <p:sp>
        <p:nvSpPr>
          <p:cNvPr id="11" name="scale-prod-label">
            <a:extLst xmlns:a="http://schemas.openxmlformats.org/drawingml/2006/main">
              <a:ext uri="{FF2B5EF4-FFF2-40B4-BE49-F238E27FC236}">
                <a16:creationId xmlns:a16="http://schemas.microsoft.com/office/drawing/2014/main" id="{1F531D5E-0234-4F6E-B58D-B5FD3F1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4"/>
                </a:solidFill>
                <a:latin typeface="Arial"/>
                <a:ea typeface="Arial"/>
                <a:cs typeface="Arial"/>
              </a:rPr>
              <a:t>SCALE · PRODUCTION</a:t>
            </a:r>
          </a:p>
        </p:txBody>
      </p:sp>
      <p:sp>
        <p:nvSpPr>
          <p:cNvPr id="12" name="scale-now-title">
            <a:extLst xmlns:a="http://schemas.openxmlformats.org/drawingml/2006/main">
              <a:ext uri="{FF2B5EF4-FFF2-40B4-BE49-F238E27FC236}">
                <a16:creationId xmlns:a16="http://schemas.microsoft.com/office/drawing/2014/main" id="{BD841CA2-A22C-4FB2-B193-00C62FEA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Single-process foundation</a:t>
            </a:r>
          </a:p>
        </p:txBody>
      </p:sp>
      <p:sp>
        <p:nvSpPr>
          <p:cNvPr id="13" name="scale-now-body">
            <a:extLst xmlns:a="http://schemas.openxmlformats.org/drawingml/2006/main">
              <a:ext uri="{FF2B5EF4-FFF2-40B4-BE49-F238E27FC236}">
                <a16:creationId xmlns:a16="http://schemas.microsoft.com/office/drawing/2014/main" id="{3384A421-1789-4D4B-8712-E0231713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React/Vite + FastAPI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SQLite-backed store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liteLLM AI features</a:t>
            </a:r>
          </a:p>
        </p:txBody>
      </p:sp>
      <p:sp>
        <p:nvSpPr>
          <p:cNvPr id="14" name="scale-next-title">
            <a:extLst xmlns:a="http://schemas.openxmlformats.org/drawingml/2006/main">
              <a:ext uri="{FF2B5EF4-FFF2-40B4-BE49-F238E27FC236}">
                <a16:creationId xmlns:a16="http://schemas.microsoft.com/office/drawing/2014/main" id="{1A3F63C9-5A99-4122-9CDC-8D72A24C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Raw-first multi-cloud</a:t>
            </a:r>
          </a:p>
        </p:txBody>
      </p:sp>
      <p:sp>
        <p:nvSpPr>
          <p:cNvPr id="15" name="scale-next-body">
            <a:extLst xmlns:a="http://schemas.openxmlformats.org/drawingml/2006/main">
              <a:ext uri="{FF2B5EF4-FFF2-40B4-BE49-F238E27FC236}">
                <a16:creationId xmlns:a16="http://schemas.microsoft.com/office/drawing/2014/main" id="{FA23CA8F-B6DA-488E-BEB8-E98328F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5770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AWS, Azure, GCP adapters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Immutable raw archive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Versioned normalization + replay</a:t>
            </a:r>
          </a:p>
        </p:txBody>
      </p:sp>
      <p:sp>
        <p:nvSpPr>
          <p:cNvPr id="16" name="scale-prod-title">
            <a:extLst xmlns:a="http://schemas.openxmlformats.org/drawingml/2006/main">
              <a:ext uri="{FF2B5EF4-FFF2-40B4-BE49-F238E27FC236}">
                <a16:creationId xmlns:a16="http://schemas.microsoft.com/office/drawing/2014/main" id="{36E237D8-647B-4261-8584-D785A0BE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Durable operating model</a:t>
            </a:r>
          </a:p>
        </p:txBody>
      </p:sp>
      <p:sp>
        <p:nvSpPr>
          <p:cNvPr id="17" name="scale-prod-body">
            <a:extLst xmlns:a="http://schemas.openxmlformats.org/drawingml/2006/main">
              <a:ext uri="{FF2B5EF4-FFF2-40B4-BE49-F238E27FC236}">
                <a16:creationId xmlns:a16="http://schemas.microsoft.com/office/drawing/2014/main" id="{2981F68F-7CB0-4C22-9635-782AB12E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Object storage + workers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Durable database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Auth, tenancy, retention, observability</a:t>
            </a:r>
          </a:p>
        </p:txBody>
      </p:sp>
      <p:sp>
        <p:nvSpPr>
          <p:cNvPr id="18" name="scale-principle">
            <a:extLst xmlns:a="http://schemas.openxmlformats.org/drawingml/2006/main">
              <a:ext uri="{FF2B5EF4-FFF2-40B4-BE49-F238E27FC236}">
                <a16:creationId xmlns:a16="http://schemas.microsoft.com/office/drawing/2014/main" id="{AA028B09-F59C-478B-ACB5-3FC0697F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Stable contracts preserve the same evidence dossier, policy trace, and analyst experience as infrastructure evolves.</a:t>
            </a:r>
          </a:p>
        </p:txBody>
      </p:sp>
    </p:spTree>
    <p:extLst>
      <p:ext uri="{BB962C8B-B14F-4D97-AF65-F5344CB8AC3E}">
        <p14:creationId xmlns:p14="http://schemas.microsoft.com/office/powerpoint/2010/main" val="12630923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5BCDA587-338E-46BF-9672-492C3C1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WHY SENTINEL ACCESS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1CC0B86-CE6F-43F5-BE42-EFA44FAA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From noisy access logs</a:t>
            </a:r>
          </a:p>
          <a:p xmlns:a="http://schemas.openxmlformats.org/drawingml/2006/main">
            <a:pPr algn="l">
              <a:defRPr sz="5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to explainable action.</a:t>
            </a:r>
          </a:p>
        </p:txBody>
      </p:sp>
      <p:cxnSp>
        <p:nvCxnSpPr>
          <p:cNvPr id="14" name="close-main-rule"/>
          <p:cNvCxnSpPr/>
          <p:nvPr/>
        </p:nvCxnSpPr>
        <p:spPr>
          <a:xfrm xmlns:a="http://schemas.openxmlformats.org/drawingml/2006/main">
            <a:off x="533400" y="35052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close-tag-0">
            <a:extLst xmlns:a="http://schemas.openxmlformats.org/drawingml/2006/main">
              <a:ext uri="{FF2B5EF4-FFF2-40B4-BE49-F238E27FC236}">
                <a16:creationId xmlns:a16="http://schemas.microsoft.com/office/drawing/2014/main" id="{A5D05AD6-6611-4A5C-AC75-19A3D70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5" name="close-copy-0">
            <a:extLst xmlns:a="http://schemas.openxmlformats.org/drawingml/2006/main">
              <a:ext uri="{FF2B5EF4-FFF2-40B4-BE49-F238E27FC236}">
                <a16:creationId xmlns:a16="http://schemas.microsoft.com/office/drawing/2014/main" id="{B6150D17-9E72-457E-BA7B-4B6A63C5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working analyst experience with FastAPI, SQLite, AI explanations, copilot search, and narrative reports.</a:t>
            </a:r>
          </a:p>
        </p:txBody>
      </p:sp>
      <p:sp>
        <p:nvSpPr>
          <p:cNvPr id="6" name="close-tag-1">
            <a:extLst xmlns:a="http://schemas.openxmlformats.org/drawingml/2006/main">
              <a:ext uri="{FF2B5EF4-FFF2-40B4-BE49-F238E27FC236}">
                <a16:creationId xmlns:a16="http://schemas.microsoft.com/office/drawing/2014/main" id="{3BC91B9C-F4F2-48B7-9E77-1407DD4C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TRUSTED</a:t>
            </a:r>
          </a:p>
        </p:txBody>
      </p:sp>
      <p:sp>
        <p:nvSpPr>
          <p:cNvPr id="7" name="close-copy-1">
            <a:extLst xmlns:a="http://schemas.openxmlformats.org/drawingml/2006/main">
              <a:ext uri="{FF2B5EF4-FFF2-40B4-BE49-F238E27FC236}">
                <a16:creationId xmlns:a16="http://schemas.microsoft.com/office/drawing/2014/main" id="{65638D98-DC7B-4FFD-9B93-9FB8E49B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policy-first risk design that keeps AI bounded, validated, evidence-grounded, and fail-safe.</a:t>
            </a:r>
          </a:p>
        </p:txBody>
      </p:sp>
      <p:sp>
        <p:nvSpPr>
          <p:cNvPr id="8" name="close-tag-2">
            <a:extLst xmlns:a="http://schemas.openxmlformats.org/drawingml/2006/main">
              <a:ext uri="{FF2B5EF4-FFF2-40B4-BE49-F238E27FC236}">
                <a16:creationId xmlns:a16="http://schemas.microsoft.com/office/drawing/2014/main" id="{11F9FE10-9ED3-4241-99A7-BD20D5F4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EXTENSIBLE</a:t>
            </a:r>
          </a:p>
        </p:txBody>
      </p:sp>
      <p:sp>
        <p:nvSpPr>
          <p:cNvPr id="9" name="close-copy-2">
            <a:extLst xmlns:a="http://schemas.openxmlformats.org/drawingml/2006/main">
              <a:ext uri="{FF2B5EF4-FFF2-40B4-BE49-F238E27FC236}">
                <a16:creationId xmlns:a16="http://schemas.microsoft.com/office/drawing/2014/main" id="{738FCD42-6B8C-48FC-B6F0-72E9F09B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483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raw-first three-cloud ingestion path that can grow behind stable contracts and adapter boundaries.</a:t>
            </a:r>
          </a:p>
        </p:txBody>
      </p:sp>
      <p:sp>
        <p:nvSpPr>
          <p:cNvPr id="10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3CDFD50A-1F18-4412-8642-A9EFE212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38200"/>
            <a:ext cx="1581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11" name="close-accent-text">
            <a:extLst xmlns:a="http://schemas.openxmlformats.org/drawingml/2006/main">
              <a:ext uri="{FF2B5EF4-FFF2-40B4-BE49-F238E27FC236}">
                <a16:creationId xmlns:a16="http://schemas.microsoft.com/office/drawing/2014/main" id="{8D6FA49D-D567-49C5-9335-1814BDA0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66800"/>
            <a:ext cx="1200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SIGNAL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2146256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2026-08-18T06:54:55.0270000Z</dcterms:created>
  <dcterms:modified xsi:type="dcterms:W3CDTF">2026-08-18T06:54:55.0280000Z</dcterms:modified>
</coreProperties>
</file>